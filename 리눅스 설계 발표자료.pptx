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8236"/>
    <p:restoredTop sz="90000"/>
  </p:normalViewPr>
  <p:slideViewPr>
    <p:cSldViewPr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1.png"  /><Relationship Id="rId4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1.png"  /><Relationship Id="rId4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2.png"  /><Relationship Id="rId4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14.png"  /><Relationship Id="rId4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7.png"  /><Relationship Id="rId4" Type="http://schemas.openxmlformats.org/officeDocument/2006/relationships/image" Target="../media/image6.png"  /><Relationship Id="rId5" Type="http://schemas.openxmlformats.org/officeDocument/2006/relationships/image" Target="../media/image5.png"  /><Relationship Id="rId6" Type="http://schemas.openxmlformats.org/officeDocument/2006/relationships/image" Target="../media/image15.png"  /><Relationship Id="rId7" Type="http://schemas.openxmlformats.org/officeDocument/2006/relationships/image" Target="../media/image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159883" y="2924937"/>
            <a:ext cx="2343532" cy="298303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4000" b="1"/>
              <a:t>다모아</a:t>
            </a:r>
            <a:endParaRPr lang="ko-KR" altLang="en-US" sz="4000" b="1"/>
          </a:p>
          <a:p>
            <a:pPr>
              <a:defRPr/>
            </a:pPr>
            <a:endParaRPr lang="ko-KR" altLang="en-US" sz="3000" b="1"/>
          </a:p>
          <a:p>
            <a:pPr>
              <a:defRPr/>
            </a:pPr>
            <a:endParaRPr lang="ko-KR" altLang="en-US" sz="3000" b="1"/>
          </a:p>
          <a:p>
            <a:pPr>
              <a:defRPr/>
            </a:pPr>
            <a:endParaRPr lang="ko-KR" altLang="en-US" sz="3000" b="1"/>
          </a:p>
          <a:p>
            <a:pPr>
              <a:defRPr/>
            </a:pPr>
            <a:endParaRPr lang="ko-KR" altLang="en-US" sz="3000" b="1"/>
          </a:p>
          <a:p>
            <a:pPr>
              <a:defRPr/>
            </a:pPr>
            <a:endParaRPr lang="en-US" altLang="ko-KR" sz="3000" b="1"/>
          </a:p>
        </p:txBody>
      </p:sp>
      <p:sp>
        <p:nvSpPr>
          <p:cNvPr id="5" name=""/>
          <p:cNvSpPr txBox="1"/>
          <p:nvPr/>
        </p:nvSpPr>
        <p:spPr>
          <a:xfrm>
            <a:off x="7601329" y="4941189"/>
            <a:ext cx="3319273" cy="1461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Clr>
                <a:schemeClr val="tx1"/>
              </a:buClr>
              <a:buNone/>
              <a:defRPr/>
            </a:pPr>
            <a:r>
              <a:rPr lang="en-US" altLang="ko-KR" sz="3000" b="1">
                <a:solidFill>
                  <a:schemeClr val="tx1"/>
                </a:solidFill>
              </a:rPr>
              <a:t>20180848</a:t>
            </a:r>
            <a:r>
              <a:rPr lang="ko-KR" altLang="en-US" sz="3000" b="1">
                <a:solidFill>
                  <a:schemeClr val="tx1"/>
                </a:solidFill>
              </a:rPr>
              <a:t> 윤창준 </a:t>
            </a:r>
            <a:endParaRPr lang="ko-KR" altLang="en-US" sz="30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3000" b="1">
                <a:solidFill>
                  <a:schemeClr val="tx1"/>
                </a:solidFill>
              </a:rPr>
              <a:t>20180852</a:t>
            </a:r>
            <a:r>
              <a:rPr lang="ko-KR" altLang="en-US" sz="3000" b="1">
                <a:solidFill>
                  <a:schemeClr val="tx1"/>
                </a:solidFill>
              </a:rPr>
              <a:t> 이승환  </a:t>
            </a:r>
            <a:endParaRPr lang="ko-KR" altLang="en-US" sz="30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3000" b="1">
                <a:solidFill>
                  <a:schemeClr val="tx1"/>
                </a:solidFill>
              </a:rPr>
              <a:t>20180850</a:t>
            </a:r>
            <a:r>
              <a:rPr lang="ko-KR" altLang="en-US" sz="3000" b="1">
                <a:solidFill>
                  <a:schemeClr val="tx1"/>
                </a:solidFill>
              </a:rPr>
              <a:t> 이상민</a:t>
            </a:r>
            <a:endParaRPr lang="ko-KR" altLang="en-US" sz="3000" b="1">
              <a:solidFill>
                <a:schemeClr val="tx1"/>
              </a:solidFill>
            </a:endParaRPr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31892" y="1353601"/>
            <a:ext cx="1368048" cy="14993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rotWithShape="1">
          <a:blip r:embed="rId2">
            <a:alphaModFix/>
            <a:lum/>
          </a:blip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343406" y="692658"/>
            <a:ext cx="4043934" cy="61988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/>
              <a:t>개발 동기 및 필요성</a:t>
            </a:r>
            <a:endParaRPr lang="ko-KR" altLang="en-US" sz="3500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8" name=""/>
          <p:cNvSpPr/>
          <p:nvPr/>
        </p:nvSpPr>
        <p:spPr>
          <a:xfrm>
            <a:off x="3575685" y="1002601"/>
            <a:ext cx="5904738" cy="5018722"/>
          </a:xfrm>
          <a:prstGeom prst="rect">
            <a:avLst/>
          </a:prstGeom>
          <a:blipFill rotWithShape="1">
            <a:blip r:embed="rId4">
              <a:alphaModFix amt="10000"/>
              <a:lum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"/>
          <p:cNvSpPr txBox="1"/>
          <p:nvPr/>
        </p:nvSpPr>
        <p:spPr>
          <a:xfrm>
            <a:off x="1485136" y="1713739"/>
            <a:ext cx="9867520" cy="3947540"/>
          </a:xfrm>
          <a:prstGeom prst="rect">
            <a:avLst/>
          </a:prstGeom>
        </p:spPr>
        <p:txBody>
          <a:bodyPr wrap="square">
            <a:spAutoFit/>
          </a:bodyPr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latin typeface="맑은 고딕"/>
                <a:ea typeface="맑은 고딕"/>
              </a:rPr>
              <a:t>팀 프로젝트 진행을 위한 같은 목적을 가진 팀원을 구하기 어려움</a:t>
            </a:r>
            <a:endParaRPr lang="ko-KR" altLang="en-US" sz="2300"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endParaRPr lang="ko-KR" altLang="en-US" sz="2300"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latin typeface="맑은 고딕"/>
                <a:ea typeface="맑은 고딕"/>
              </a:rPr>
              <a:t>기존 서비스 중 팀 프로젝트만을 위한 앱이 없음</a:t>
            </a:r>
            <a:endParaRPr lang="ko-KR" altLang="en-US" sz="2300"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endParaRPr lang="ko-KR" altLang="en-US" sz="2300"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solidFill>
                  <a:schemeClr val="tx1"/>
                </a:solidFill>
                <a:latin typeface="맑은 고딕"/>
                <a:ea typeface="맑은 고딕"/>
              </a:rPr>
              <a:t>코로나19로 오프라인 모임이 제한되어 온라인 공모전, 대외활동이 </a:t>
            </a: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2300">
                <a:solidFill>
                  <a:schemeClr val="tx1"/>
                </a:solidFill>
                <a:latin typeface="맑은 고딕"/>
                <a:ea typeface="맑은 고딕"/>
              </a:rPr>
              <a:t>   증가함</a:t>
            </a: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solidFill>
                  <a:schemeClr val="tx1"/>
                </a:solidFill>
                <a:latin typeface="맑은 고딕"/>
                <a:ea typeface="맑은 고딕"/>
              </a:rPr>
              <a:t>프로젝트팀 활동 증가로 다양한 팀원을 구할 수 있는 방법이 필요</a:t>
            </a: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solidFill>
                  <a:schemeClr val="tx1"/>
                </a:solidFill>
                <a:latin typeface="맑은 고딕"/>
                <a:ea typeface="맑은 고딕"/>
              </a:rPr>
              <a:t>따라서. 같은 목표의 팀원을 빠르게 구할 수 있고, 팀 프로젝트 환경을 </a:t>
            </a: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430040" indent="-32844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300">
                <a:solidFill>
                  <a:schemeClr val="tx1"/>
                </a:solidFill>
                <a:latin typeface="맑은 고딕"/>
                <a:ea typeface="맑은 고딕"/>
              </a:rPr>
              <a:t>조성해 줄 수 있는 앱의 필요성을 느끼고 제작하게 됨</a:t>
            </a:r>
            <a:endParaRPr lang="ko-KR" altLang="en-US" sz="23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83361" y="908685"/>
            <a:ext cx="1479805" cy="6242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필요성</a:t>
            </a:r>
            <a:endParaRPr lang="ko-KR" altLang="en-US" sz="3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983360" y="980694"/>
            <a:ext cx="2851404" cy="61760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/>
              <a:t>관련 앱 </a:t>
            </a:r>
            <a:r>
              <a:rPr lang="en-US" altLang="ko-KR" sz="3500"/>
              <a:t>4</a:t>
            </a:r>
            <a:r>
              <a:rPr lang="ko-KR" altLang="en-US" sz="3500"/>
              <a:t>가지</a:t>
            </a:r>
            <a:endParaRPr lang="ko-KR" altLang="en-US" sz="3500"/>
          </a:p>
        </p:txBody>
      </p:sp>
      <p:pic>
        <p:nvPicPr>
          <p:cNvPr id="5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839343" y="2913249"/>
            <a:ext cx="2626995" cy="1523876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4295775" y="1598295"/>
            <a:ext cx="253365" cy="36195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8" name=""/>
          <p:cNvSpPr txBox="1"/>
          <p:nvPr/>
        </p:nvSpPr>
        <p:spPr>
          <a:xfrm>
            <a:off x="5735955" y="692658"/>
            <a:ext cx="251459" cy="36271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ko-KR" altLang="en-US"/>
          </a:p>
        </p:txBody>
      </p:sp>
      <p:pic>
        <p:nvPicPr>
          <p:cNvPr id="11" name="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3814826" y="2531731"/>
            <a:ext cx="2353183" cy="2303833"/>
          </a:xfrm>
          <a:prstGeom prst="rect">
            <a:avLst/>
          </a:prstGeom>
        </p:spPr>
      </p:pic>
      <p:pic>
        <p:nvPicPr>
          <p:cNvPr id="12" name=""/>
          <p:cNvPicPr/>
          <p:nvPr/>
        </p:nvPicPr>
        <p:blipFill rotWithShape="1">
          <a:blip r:embed="rId5">
            <a:lum/>
          </a:blip>
          <a:srcRect/>
          <a:stretch>
            <a:fillRect/>
          </a:stretch>
        </p:blipFill>
        <p:spPr>
          <a:xfrm>
            <a:off x="6384036" y="2531731"/>
            <a:ext cx="2209165" cy="2286913"/>
          </a:xfrm>
          <a:prstGeom prst="rect">
            <a:avLst/>
          </a:prstGeom>
        </p:spPr>
      </p:pic>
      <p:pic>
        <p:nvPicPr>
          <p:cNvPr id="13" name=""/>
          <p:cNvPicPr/>
          <p:nvPr/>
        </p:nvPicPr>
        <p:blipFill rotWithShape="1">
          <a:blip r:embed="rId6">
            <a:lum/>
          </a:blip>
          <a:srcRect/>
          <a:stretch>
            <a:fillRect/>
          </a:stretch>
        </p:blipFill>
        <p:spPr>
          <a:xfrm>
            <a:off x="8904351" y="2633965"/>
            <a:ext cx="2641219" cy="2201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7" y="692658"/>
            <a:ext cx="3471293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서비스 기능 설명</a:t>
            </a:r>
            <a:endParaRPr lang="ko-KR" altLang="en-US" sz="3500"/>
          </a:p>
        </p:txBody>
      </p:sp>
      <p:sp>
        <p:nvSpPr>
          <p:cNvPr id="5" name=""/>
          <p:cNvSpPr txBox="1"/>
          <p:nvPr/>
        </p:nvSpPr>
        <p:spPr>
          <a:xfrm>
            <a:off x="363283" y="1756410"/>
            <a:ext cx="11465433" cy="4480941"/>
          </a:xfrm>
          <a:prstGeom prst="rect">
            <a:avLst/>
          </a:prstGeom>
        </p:spPr>
        <p:txBody>
          <a:bodyPr wrap="square">
            <a:spAutoFit/>
          </a:bodyPr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1. 일정 관리 및 공유 달력 : 같은 팀 프로젝트를 하는 사람들끼리 달력으로 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    일정을 공유할 수 있음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2. 분야별 팀원 모집 게시판: 관심 있는 분야를 선택하여 같은 분야 사람들에게 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    알림을 줄 수 있음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3. 간편 로그인: 다양한 SNS 아이디로 로그인할 수 있음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4. 자료 공유 게시판: 자료를 서로 공유하여 피드백을 줄 수 있음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5. 인기 공모전 순위 기능: 참여 인원이 높은 게시물을 최상단에 보여줌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6. 카테고리별 게시글 알림: 게시자가 카테고리를 선택하여 올리면 같은 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    카테고리를 선택하는 유저에게 알림이 감 </a:t>
            </a:r>
            <a:endParaRPr lang="ko-KR" altLang="en-US" sz="24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latin typeface="맑은 고딕"/>
                <a:ea typeface="맑은 고딕"/>
              </a:rPr>
              <a:t>  </a:t>
            </a:r>
            <a:endParaRPr lang="ko-KR" altLang="en-US" sz="800"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latin typeface="맑은 고딕"/>
                <a:ea typeface="맑은 고딕"/>
              </a:rPr>
              <a:t>7. 1대1 쪽지 기능: 궁금한 정보를 실시간으로 얻을 수 있음</a:t>
            </a:r>
            <a:endParaRPr lang="ko-KR" altLang="en-US" sz="240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6" y="692658"/>
            <a:ext cx="2718819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사용되는 </a:t>
            </a:r>
            <a:r>
              <a:rPr lang="en-US" altLang="ko-KR" sz="3500"/>
              <a:t>SW</a:t>
            </a:r>
            <a:endParaRPr lang="en-US" altLang="ko-KR" sz="3500"/>
          </a:p>
        </p:txBody>
      </p:sp>
      <p:pic>
        <p:nvPicPr>
          <p:cNvPr id="5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415414" y="2564892"/>
            <a:ext cx="9361170" cy="2633457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47135" y="4320540"/>
            <a:ext cx="260603" cy="260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9" y="692658"/>
            <a:ext cx="1480566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구성도</a:t>
            </a:r>
            <a:endParaRPr lang="ko-KR" altLang="en-US" sz="3500"/>
          </a:p>
        </p:txBody>
      </p:sp>
      <p:pic>
        <p:nvPicPr>
          <p:cNvPr id="5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979329" y="2132837"/>
            <a:ext cx="10233341" cy="3888486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08582" y="5458968"/>
            <a:ext cx="130302" cy="1303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39343" y="791718"/>
            <a:ext cx="2042922" cy="6210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적용 기술</a:t>
            </a:r>
            <a:endParaRPr lang="ko-KR" altLang="en-US" sz="3500"/>
          </a:p>
        </p:txBody>
      </p:sp>
      <p:sp>
        <p:nvSpPr>
          <p:cNvPr id="7" name=""/>
          <p:cNvSpPr txBox="1"/>
          <p:nvPr/>
        </p:nvSpPr>
        <p:spPr>
          <a:xfrm>
            <a:off x="560831" y="2564892"/>
            <a:ext cx="11070337" cy="2757678"/>
          </a:xfrm>
          <a:prstGeom prst="rect">
            <a:avLst/>
          </a:prstGeom>
        </p:spPr>
        <p:txBody>
          <a:bodyPr wrap="square">
            <a:spAutoFit/>
          </a:bodyPr>
          <a:p>
            <a:pPr marL="45860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500">
                <a:latin typeface="맑은 고딕"/>
                <a:ea typeface="맑은 고딕"/>
              </a:rPr>
              <a:t>일정 공유 달력을 서버에 전송 후 WAS로 DB에 저장함</a:t>
            </a:r>
            <a:endParaRPr lang="ko-KR" altLang="en-US" sz="2500">
              <a:latin typeface="맑은 고딕"/>
              <a:ea typeface="맑은 고딕"/>
            </a:endParaRPr>
          </a:p>
          <a:p>
            <a:pPr marL="45860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500">
                <a:latin typeface="맑은 고딕"/>
                <a:ea typeface="맑은 고딕"/>
              </a:rPr>
              <a:t>로그인 시 페이스북, 구글, 네이버 로그인 API로 SNS 간편 로그인이 </a:t>
            </a:r>
            <a:endParaRPr lang="ko-KR" altLang="en-US" sz="2500">
              <a:latin typeface="맑은 고딕"/>
              <a:ea typeface="맑은 고딕"/>
            </a:endParaRPr>
          </a:p>
          <a:p>
            <a:pPr marL="101600" indent="0">
              <a:buClr>
                <a:schemeClr val="tx1"/>
              </a:buClr>
              <a:buFont typeface="Arial"/>
              <a:buNone/>
              <a:defRPr/>
            </a:pPr>
            <a:r>
              <a:rPr lang="ko-KR" altLang="en-US" sz="2500">
                <a:latin typeface="맑은 고딕"/>
                <a:ea typeface="맑은 고딕"/>
              </a:rPr>
              <a:t>   가능함</a:t>
            </a:r>
            <a:endParaRPr lang="ko-KR" altLang="en-US" sz="2500">
              <a:latin typeface="맑은 고딕"/>
              <a:ea typeface="맑은 고딕"/>
            </a:endParaRPr>
          </a:p>
          <a:p>
            <a:pPr marL="45860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500">
                <a:latin typeface="맑은 고딕"/>
                <a:ea typeface="맑은 고딕"/>
              </a:rPr>
              <a:t>카테고리를 정해 게시글을 올릴 시 Amazon SNS로 같은 카테고리를 선택한 사람들에게 푸쉬 알림을 함</a:t>
            </a:r>
            <a:endParaRPr lang="ko-KR" altLang="en-US" sz="2500">
              <a:latin typeface="맑은 고딕"/>
              <a:ea typeface="맑은 고딕"/>
            </a:endParaRPr>
          </a:p>
          <a:p>
            <a:pPr marL="45860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500">
                <a:latin typeface="맑은 고딕"/>
                <a:ea typeface="맑은 고딕"/>
              </a:rPr>
              <a:t>팀원 모집 게시글 등록 시 서버에 전송하여 WAS로 DB에 저장함</a:t>
            </a:r>
            <a:endParaRPr lang="ko-KR" altLang="en-US" sz="2500">
              <a:latin typeface="맑은 고딕"/>
              <a:ea typeface="맑은 고딕"/>
            </a:endParaRPr>
          </a:p>
          <a:p>
            <a:pPr marL="45860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500">
                <a:latin typeface="맑은 고딕"/>
                <a:ea typeface="맑은 고딕"/>
              </a:rPr>
              <a:t>우분투 서버 소켓 통신으로 유저 간 1대1 쪽지를 전달함</a:t>
            </a:r>
            <a:endParaRPr lang="ko-KR" altLang="en-US" sz="250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pic>
        <p:nvPicPr>
          <p:cNvPr id="4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914144" y="1268730"/>
            <a:ext cx="9150477" cy="5328140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652648" y="548640"/>
            <a:ext cx="4658492" cy="6210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 b="1">
                <a:latin typeface="맑은 고딕"/>
                <a:ea typeface="맑은 고딕"/>
              </a:rPr>
              <a:t>App Design Proposal</a:t>
            </a:r>
            <a:endParaRPr lang="ko-KR" altLang="en-US" sz="3500" b="1">
              <a:latin typeface="맑은 고딕"/>
              <a:ea typeface="맑은 고딕"/>
            </a:endParaRPr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83927" y="2088261"/>
            <a:ext cx="260603" cy="260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8" y="692658"/>
            <a:ext cx="3471292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경제성 및 안정성</a:t>
            </a:r>
            <a:endParaRPr lang="ko-KR" altLang="en-US" sz="3500"/>
          </a:p>
        </p:txBody>
      </p:sp>
      <p:sp>
        <p:nvSpPr>
          <p:cNvPr id="5" name=""/>
          <p:cNvSpPr/>
          <p:nvPr/>
        </p:nvSpPr>
        <p:spPr>
          <a:xfrm>
            <a:off x="868298" y="1700784"/>
            <a:ext cx="10153269" cy="23042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190500">
              <a:defRPr/>
            </a:pPr>
            <a:r>
              <a:rPr lang="en-US" altLang="ko-KR" sz="22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20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sz="2200">
                <a:solidFill>
                  <a:schemeClr val="tx1"/>
                </a:solidFill>
                <a:latin typeface="맑은 고딕"/>
                <a:ea typeface="맑은 고딕"/>
              </a:rPr>
              <a:t>개발 원가를 낮추기 위해 무료 개발도구,오픈소스 코드 등 사용</a:t>
            </a:r>
            <a:endParaRPr lang="en-US" altLang="ko-KR" sz="22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endParaRPr lang="en-US" altLang="ko-KR" sz="22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r>
              <a:rPr lang="en-US" altLang="ko-KR" sz="22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20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sz="2200">
                <a:solidFill>
                  <a:schemeClr val="tx1"/>
                </a:solidFill>
                <a:latin typeface="맑은 고딕"/>
                <a:ea typeface="맑은 고딕"/>
              </a:rPr>
              <a:t>사전 조사후 필요한 서비스위주로 개발함</a:t>
            </a:r>
            <a:endParaRPr lang="en-US" altLang="ko-KR" sz="22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6" name=""/>
          <p:cNvSpPr/>
          <p:nvPr/>
        </p:nvSpPr>
        <p:spPr>
          <a:xfrm>
            <a:off x="868298" y="4149090"/>
            <a:ext cx="10153269" cy="23042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190500"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오류를 대비해 전문가에게 코드 피드백을 받는다.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프로그래밍 중간마다 백업 파일을 만든다.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695325" y="1423702"/>
            <a:ext cx="1656207" cy="554164"/>
          </a:xfrm>
          <a:prstGeom prst="flowChartTerminator">
            <a:avLst/>
          </a:prstGeom>
          <a:solidFill>
            <a:srgbClr val="0d0d0d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700" b="1">
                <a:solidFill>
                  <a:schemeClr val="lt1"/>
                </a:solidFill>
              </a:rPr>
              <a:t>경제성</a:t>
            </a:r>
            <a:endParaRPr lang="ko-KR" altLang="en-US" sz="2700" b="1">
              <a:solidFill>
                <a:schemeClr val="lt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695325" y="4005072"/>
            <a:ext cx="1656207" cy="554164"/>
          </a:xfrm>
          <a:prstGeom prst="flowChartTerminator">
            <a:avLst/>
          </a:prstGeom>
          <a:solidFill>
            <a:srgbClr val="ffb689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700" b="1">
                <a:solidFill>
                  <a:schemeClr val="lt1"/>
                </a:solidFill>
              </a:rPr>
              <a:t> 안정성</a:t>
            </a:r>
            <a:endParaRPr lang="ko-KR" altLang="en-US" sz="2700" b="1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868299" y="692658"/>
            <a:ext cx="3471291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차별성 및 우수성</a:t>
            </a:r>
            <a:endParaRPr lang="ko-KR" altLang="en-US" sz="3500"/>
          </a:p>
        </p:txBody>
      </p:sp>
      <p:sp>
        <p:nvSpPr>
          <p:cNvPr id="6" name=""/>
          <p:cNvSpPr/>
          <p:nvPr/>
        </p:nvSpPr>
        <p:spPr>
          <a:xfrm>
            <a:off x="868298" y="4293108"/>
            <a:ext cx="10153269" cy="23042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/>
          <a:lstStyle/>
          <a:p>
            <a:pPr marL="101600">
              <a:spcBef>
                <a:spcPts val="100"/>
              </a:spcBef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목적별로 카테고리를 설정해 정보를 쉽게 얻을 수 있음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팀 프로젝트의 일정 관리 및 진행 상황이 파악 가능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다양한 SNS에서 사용한 아이디로 로그인 가능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spcBef>
                <a:spcPts val="100"/>
              </a:spcBef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사용자들에게 무료로서비스를 제공하여 접근성을 높임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7" name=""/>
          <p:cNvSpPr/>
          <p:nvPr/>
        </p:nvSpPr>
        <p:spPr>
          <a:xfrm>
            <a:off x="868298" y="1556766"/>
            <a:ext cx="10153269" cy="23042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01600"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모집 하고싶은 분야의 팀원을 보다 빠르고 쉽게 모집이 가능함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endParaRPr lang="ko-KR" altLang="en-US" sz="10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팀 프로젝트 진행 시 하나의 일정 공유 가능한 달력 기능이 있음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endParaRPr lang="ko-KR" altLang="en-US" sz="10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같은 분야에서 활동한 사람의 자료를 공유할 수 있음 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8" name=""/>
          <p:cNvSpPr/>
          <p:nvPr/>
        </p:nvSpPr>
        <p:spPr>
          <a:xfrm>
            <a:off x="695325" y="1312545"/>
            <a:ext cx="1656207" cy="554164"/>
          </a:xfrm>
          <a:prstGeom prst="flowChartTerminator">
            <a:avLst/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700" b="1">
                <a:solidFill>
                  <a:schemeClr val="lt1"/>
                </a:solidFill>
              </a:rPr>
              <a:t> 차별성</a:t>
            </a:r>
            <a:endParaRPr lang="ko-KR" altLang="en-US" sz="2700" b="1">
              <a:solidFill>
                <a:schemeClr val="lt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695325" y="3882961"/>
            <a:ext cx="1656207" cy="554164"/>
          </a:xfrm>
          <a:prstGeom prst="flowChartTerminator">
            <a:avLst/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700" b="1">
                <a:solidFill>
                  <a:schemeClr val="lt1"/>
                </a:solidFill>
              </a:rPr>
              <a:t>우수성</a:t>
            </a:r>
            <a:endParaRPr lang="ko-KR" altLang="en-US" sz="2700" b="1">
              <a:solidFill>
                <a:schemeClr val="lt1"/>
              </a:solidFill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H="1" flipV="1">
            <a:off x="11496675" y="0"/>
            <a:ext cx="648081" cy="648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39343" y="791718"/>
            <a:ext cx="3471672" cy="62103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 sz="3500"/>
              <a:t>유지관리 용이성 </a:t>
            </a: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1019365" y="2204847"/>
            <a:ext cx="10333292" cy="33124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2" anchor="ctr"/>
          <a:lstStyle/>
          <a:p>
            <a:pPr marL="1905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 디자인패턴을 활용해서 유지보수 및 관리에 용이하게 코드를 작성함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ㆍ사용자와의 양방향 소통기반 마련 함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905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ㆍ사용자 편의성 제고를 위한 유저 인터페이스 개선 함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39343" y="791718"/>
            <a:ext cx="2042922" cy="6210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추진 전략</a:t>
            </a:r>
            <a:endParaRPr lang="ko-KR" altLang="en-US" sz="3500"/>
          </a:p>
        </p:txBody>
      </p:sp>
      <p:sp>
        <p:nvSpPr>
          <p:cNvPr id="7" name=""/>
          <p:cNvSpPr/>
          <p:nvPr/>
        </p:nvSpPr>
        <p:spPr>
          <a:xfrm>
            <a:off x="1794129" y="1712403"/>
            <a:ext cx="9163812" cy="4320540"/>
          </a:xfrm>
          <a:prstGeom prst="roundRect">
            <a:avLst>
              <a:gd name="adj" fmla="val 16667"/>
            </a:avLst>
          </a:prstGeom>
          <a:noFill/>
          <a:ln w="5715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ㆍ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 개발전 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어느 정도 투자할지 투자 비용설계를 함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앱의 이용목적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,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목표에 대해 이해한 후 개발을 시작함</a:t>
            </a:r>
            <a:endParaRPr lang="ko-KR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ㆍ 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개발중 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중간중간에 사용자/전문가에게 코드 피드백을 받음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여러가지 기기에서 앱 테스트를 한 후 출시</a:t>
            </a:r>
            <a:endParaRPr lang="ko-KR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ㆍ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 개발후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꾸준한 공모전 업데이트로 사용자를 증가시킴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  <a:p>
            <a:pPr>
              <a:defRPr/>
            </a:pP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   </a:t>
            </a:r>
            <a:r>
              <a:rPr lang="en-US" altLang="ko-KR" sz="2500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25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ja-JP" altLang="en-US" sz="2500">
                <a:solidFill>
                  <a:schemeClr val="dk1"/>
                </a:solidFill>
                <a:latin typeface="맑은 고딕"/>
                <a:ea typeface="맑은 고딕"/>
              </a:rPr>
              <a:t>사용자가 많아짐에 따라 보안에 신경씀</a:t>
            </a:r>
            <a:endParaRPr lang="ja-JP" altLang="en-US" sz="2500">
              <a:solidFill>
                <a:schemeClr val="dk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9" y="692658"/>
            <a:ext cx="2042541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추진 계획</a:t>
            </a:r>
            <a:endParaRPr lang="ko-KR" altLang="en-US" sz="3500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1284" y="1916811"/>
            <a:ext cx="11449431" cy="4045988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820715" y="5544693"/>
            <a:ext cx="260603" cy="260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9" y="692658"/>
            <a:ext cx="2404491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500"/>
              <a:t>SWOT</a:t>
            </a:r>
            <a:r>
              <a:rPr lang="ko-KR" altLang="en-US" sz="3500"/>
              <a:t> 분석</a:t>
            </a:r>
            <a:endParaRPr lang="ko-KR" altLang="en-US" sz="3500"/>
          </a:p>
        </p:txBody>
      </p:sp>
      <p:sp>
        <p:nvSpPr>
          <p:cNvPr id="5" name=""/>
          <p:cNvSpPr/>
          <p:nvPr/>
        </p:nvSpPr>
        <p:spPr>
          <a:xfrm>
            <a:off x="1854517" y="1700784"/>
            <a:ext cx="3816477" cy="22322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높은 광고효율</a:t>
            </a:r>
            <a:endParaRPr lang="en-US" altLang="ko-KR" sz="2200" b="1">
              <a:solidFill>
                <a:schemeClr val="tx1"/>
              </a:solidFill>
            </a:endParaRPr>
          </a:p>
          <a:p>
            <a:pPr algn="ctr"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사용자의 스펙 향상기여</a:t>
            </a:r>
            <a:endParaRPr lang="en-US" altLang="ko-KR" sz="2200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무료로 제공</a:t>
            </a:r>
            <a:endParaRPr lang="en-US" altLang="ko-KR" sz="2200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차별성 있는 서비스</a:t>
            </a:r>
            <a:endParaRPr lang="en-US" altLang="ko-KR" sz="2200" b="1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빠른 팀원 구인</a:t>
            </a:r>
            <a:endParaRPr lang="en-US" altLang="ko-KR" sz="2200" b="1">
              <a:solidFill>
                <a:schemeClr val="tx1"/>
              </a:solidFill>
            </a:endParaRPr>
          </a:p>
        </p:txBody>
      </p:sp>
      <p:sp>
        <p:nvSpPr>
          <p:cNvPr id="6" name=""/>
          <p:cNvSpPr/>
          <p:nvPr/>
        </p:nvSpPr>
        <p:spPr>
          <a:xfrm>
            <a:off x="6096000" y="1700784"/>
            <a:ext cx="3816477" cy="22322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고급 인력의 부족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</a:t>
            </a:r>
            <a:r>
              <a:rPr lang="ko-KR" altLang="en-US" sz="2200" b="1">
                <a:solidFill>
                  <a:schemeClr val="tx1"/>
                </a:solidFill>
              </a:rPr>
              <a:t> </a:t>
            </a:r>
            <a:r>
              <a:rPr lang="en-US" altLang="ko-KR" sz="2200" b="1">
                <a:solidFill>
                  <a:schemeClr val="tx1"/>
                </a:solidFill>
              </a:rPr>
              <a:t>  부족한 인력으로 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</a:t>
            </a:r>
            <a:r>
              <a:rPr lang="ko-KR" altLang="en-US" sz="2200" b="1">
                <a:solidFill>
                  <a:schemeClr val="tx1"/>
                </a:solidFill>
              </a:rPr>
              <a:t>    </a:t>
            </a:r>
            <a:r>
              <a:rPr lang="en-US" altLang="ko-KR" sz="2200" b="1">
                <a:solidFill>
                  <a:schemeClr val="tx1"/>
                </a:solidFill>
              </a:rPr>
              <a:t>꾸준한 업데이트불가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항시 서버 유지비용 부족</a:t>
            </a:r>
            <a:endParaRPr lang="en-US" altLang="ko-KR" sz="2200" b="1">
              <a:solidFill>
                <a:schemeClr val="tx1"/>
              </a:solidFill>
            </a:endParaRPr>
          </a:p>
        </p:txBody>
      </p:sp>
      <p:sp>
        <p:nvSpPr>
          <p:cNvPr id="7" name=""/>
          <p:cNvSpPr/>
          <p:nvPr/>
        </p:nvSpPr>
        <p:spPr>
          <a:xfrm>
            <a:off x="6096000" y="4293108"/>
            <a:ext cx="3816477" cy="22322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buClr>
                <a:schemeClr val="tx1"/>
              </a:buClr>
              <a:buNone/>
              <a:defRPr/>
            </a:pPr>
            <a:r>
              <a:rPr lang="ko-KR" altLang="en-US" sz="2200" b="1">
                <a:solidFill>
                  <a:schemeClr val="tx1"/>
                </a:solidFill>
              </a:rPr>
              <a:t>       경쟁 기업 출현</a:t>
            </a:r>
            <a:endParaRPr lang="ko-KR" altLang="en-US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2200" b="1">
                <a:solidFill>
                  <a:schemeClr val="tx1"/>
                </a:solidFill>
              </a:rPr>
              <a:t>   확실하지 않은 경제력</a:t>
            </a:r>
            <a:endParaRPr lang="ko-KR" altLang="en-US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ko-KR" altLang="en-US" sz="2200" b="1">
                <a:solidFill>
                  <a:schemeClr val="tx1"/>
                </a:solidFill>
              </a:rPr>
              <a:t>          </a:t>
            </a:r>
            <a:r>
              <a:rPr lang="en-US" altLang="ko-KR" sz="2200" b="1">
                <a:solidFill>
                  <a:schemeClr val="tx1"/>
                </a:solidFill>
              </a:rPr>
              <a:t>수익성 부족</a:t>
            </a:r>
            <a:endParaRPr lang="en-US" altLang="ko-KR" sz="2200" b="1">
              <a:solidFill>
                <a:schemeClr val="tx1"/>
              </a:solidFill>
            </a:endParaRPr>
          </a:p>
        </p:txBody>
      </p:sp>
      <p:sp>
        <p:nvSpPr>
          <p:cNvPr id="8" name=""/>
          <p:cNvSpPr/>
          <p:nvPr/>
        </p:nvSpPr>
        <p:spPr>
          <a:xfrm>
            <a:off x="1854517" y="4293108"/>
            <a:ext cx="3816477" cy="22322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 대학생 유저확보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   낮은 진입 장벽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  기업에서의 투자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 새로운 앱에대한 </a:t>
            </a:r>
            <a:endParaRPr lang="en-US" altLang="ko-KR" sz="2200" b="1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  <a:defRPr/>
            </a:pPr>
            <a:r>
              <a:rPr lang="en-US" altLang="ko-KR" sz="2200" b="1">
                <a:solidFill>
                  <a:schemeClr val="tx1"/>
                </a:solidFill>
              </a:rPr>
              <a:t>          개발능력 향상</a:t>
            </a:r>
            <a:endParaRPr lang="en-US" altLang="ko-KR" sz="2200" b="1">
              <a:solidFill>
                <a:schemeClr val="tx1"/>
              </a:solidFill>
            </a:endParaRPr>
          </a:p>
        </p:txBody>
      </p:sp>
      <p:sp>
        <p:nvSpPr>
          <p:cNvPr id="9" name=""/>
          <p:cNvSpPr/>
          <p:nvPr/>
        </p:nvSpPr>
        <p:spPr>
          <a:xfrm>
            <a:off x="1620488" y="1312545"/>
            <a:ext cx="900112" cy="900112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3300" b="1">
                <a:solidFill>
                  <a:schemeClr val="tx1"/>
                </a:solidFill>
              </a:rPr>
              <a:t>S</a:t>
            </a:r>
            <a:endParaRPr lang="en-US" altLang="ko-KR" sz="3300" b="1">
              <a:solidFill>
                <a:schemeClr val="tx1"/>
              </a:solidFill>
            </a:endParaRPr>
          </a:p>
        </p:txBody>
      </p:sp>
      <p:sp>
        <p:nvSpPr>
          <p:cNvPr id="10" name=""/>
          <p:cNvSpPr/>
          <p:nvPr/>
        </p:nvSpPr>
        <p:spPr>
          <a:xfrm>
            <a:off x="5879973" y="1312545"/>
            <a:ext cx="900112" cy="900112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3300" b="1">
                <a:solidFill>
                  <a:schemeClr val="tx1"/>
                </a:solidFill>
              </a:rPr>
              <a:t>W</a:t>
            </a:r>
            <a:endParaRPr lang="en-US" altLang="ko-KR" sz="3300" b="1">
              <a:solidFill>
                <a:schemeClr val="tx1"/>
              </a:solidFill>
            </a:endParaRPr>
          </a:p>
        </p:txBody>
      </p:sp>
      <p:sp>
        <p:nvSpPr>
          <p:cNvPr id="11" name=""/>
          <p:cNvSpPr/>
          <p:nvPr/>
        </p:nvSpPr>
        <p:spPr>
          <a:xfrm>
            <a:off x="5879973" y="3969067"/>
            <a:ext cx="900112" cy="900112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3300" b="1">
                <a:solidFill>
                  <a:schemeClr val="tx1"/>
                </a:solidFill>
              </a:rPr>
              <a:t>T</a:t>
            </a:r>
            <a:endParaRPr lang="en-US" altLang="ko-KR" sz="3300" b="1">
              <a:solidFill>
                <a:schemeClr val="tx1"/>
              </a:solidFill>
            </a:endParaRPr>
          </a:p>
        </p:txBody>
      </p:sp>
      <p:sp>
        <p:nvSpPr>
          <p:cNvPr id="12" name=""/>
          <p:cNvSpPr/>
          <p:nvPr/>
        </p:nvSpPr>
        <p:spPr>
          <a:xfrm>
            <a:off x="1620488" y="3933062"/>
            <a:ext cx="900112" cy="900112"/>
          </a:xfrm>
          <a:prstGeom prst="ellipse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3300" b="1">
                <a:solidFill>
                  <a:schemeClr val="tx1"/>
                </a:solidFill>
              </a:rPr>
              <a:t>O</a:t>
            </a:r>
            <a:endParaRPr lang="en-US" altLang="ko-KR" sz="33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911352" y="692658"/>
            <a:ext cx="5526406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500"/>
              <a:t>STP </a:t>
            </a:r>
            <a:r>
              <a:rPr lang="ko-KR" altLang="en-US" sz="3500"/>
              <a:t>전략  </a:t>
            </a:r>
            <a:r>
              <a:rPr lang="en-US" altLang="ko-KR" sz="3500"/>
              <a:t>- </a:t>
            </a:r>
            <a:r>
              <a:rPr lang="en-US" altLang="ko-KR" sz="3500" b="1">
                <a:solidFill>
                  <a:schemeClr val="tx1"/>
                </a:solidFill>
              </a:rPr>
              <a:t>S</a:t>
            </a:r>
            <a:r>
              <a:rPr lang="en-US" altLang="ko-KR" sz="3500">
                <a:solidFill>
                  <a:schemeClr val="tx1"/>
                </a:solidFill>
              </a:rPr>
              <a:t>egmentation</a:t>
            </a:r>
            <a:endParaRPr lang="en-US" altLang="ko-KR" sz="3500">
              <a:solidFill>
                <a:schemeClr val="tx1"/>
              </a:solidFill>
            </a:endParaRPr>
          </a:p>
        </p:txBody>
      </p:sp>
      <p:sp>
        <p:nvSpPr>
          <p:cNvPr id="14" name=""/>
          <p:cNvSpPr/>
          <p:nvPr/>
        </p:nvSpPr>
        <p:spPr>
          <a:xfrm>
            <a:off x="709325" y="2132838"/>
            <a:ext cx="3298413" cy="4176522"/>
          </a:xfrm>
          <a:prstGeom prst="rect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대외활동 공모전 참</a:t>
            </a:r>
            <a:r>
              <a:rPr lang="ko-KR" altLang="en-US" sz="2400" b="1">
                <a:solidFill>
                  <a:schemeClr val="tx1"/>
                </a:solidFill>
              </a:rPr>
              <a:t>여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취업에 대한 스펙향상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 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쉽고 빠른 팀원구인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             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공모전,팀프로젝트 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자</a:t>
            </a:r>
            <a:r>
              <a:rPr lang="en-US" altLang="ko-KR" sz="2400" b="1">
                <a:solidFill>
                  <a:schemeClr val="tx1"/>
                </a:solidFill>
              </a:rPr>
              <a:t>료 수집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sp>
        <p:nvSpPr>
          <p:cNvPr id="15" name=""/>
          <p:cNvSpPr/>
          <p:nvPr/>
        </p:nvSpPr>
        <p:spPr>
          <a:xfrm>
            <a:off x="1145667" y="1816607"/>
            <a:ext cx="2528887" cy="676275"/>
          </a:xfrm>
          <a:prstGeom prst="flowChartTerminator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600" b="1">
                <a:solidFill>
                  <a:schemeClr val="tx1"/>
                </a:solidFill>
              </a:rPr>
              <a:t>이용목적</a:t>
            </a:r>
            <a:endParaRPr lang="ko-KR" altLang="en-US" sz="2600" b="1">
              <a:solidFill>
                <a:schemeClr val="tx1"/>
              </a:solidFill>
            </a:endParaRPr>
          </a:p>
        </p:txBody>
      </p:sp>
      <p:sp>
        <p:nvSpPr>
          <p:cNvPr id="20" name=""/>
          <p:cNvSpPr/>
          <p:nvPr/>
        </p:nvSpPr>
        <p:spPr>
          <a:xfrm>
            <a:off x="8184261" y="2132838"/>
            <a:ext cx="3298413" cy="4176522"/>
          </a:xfrm>
          <a:prstGeom prst="rect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 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10대,20대,30대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</a:t>
            </a:r>
            <a:r>
              <a:rPr lang="en-US" altLang="ko-KR" sz="2400" b="1">
                <a:solidFill>
                  <a:schemeClr val="tx1"/>
                </a:solidFill>
              </a:rPr>
              <a:t>고등학생,중학생,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</a:t>
            </a:r>
            <a:r>
              <a:rPr lang="en-US" altLang="ko-KR" sz="2400" b="1">
                <a:solidFill>
                  <a:schemeClr val="tx1"/>
                </a:solidFill>
              </a:rPr>
              <a:t>대학생,일반인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sz="2400" b="1">
                <a:solidFill>
                  <a:schemeClr val="tx1"/>
                </a:solidFill>
              </a:rPr>
              <a:t> 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남성/여성 직장인,</a:t>
            </a:r>
            <a:endParaRPr lang="en-US" altLang="ko-KR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r>
              <a:rPr lang="en-US" altLang="ko-KR" sz="2400" b="1">
                <a:solidFill>
                  <a:schemeClr val="tx1"/>
                </a:solidFill>
              </a:rPr>
              <a:t>프로그래머</a:t>
            </a:r>
            <a:endParaRPr lang="en-US" altLang="ko-KR" sz="2400" b="1">
              <a:solidFill>
                <a:schemeClr val="tx1"/>
              </a:solidFill>
            </a:endParaRPr>
          </a:p>
        </p:txBody>
      </p:sp>
      <p:sp>
        <p:nvSpPr>
          <p:cNvPr id="21" name=""/>
          <p:cNvSpPr/>
          <p:nvPr/>
        </p:nvSpPr>
        <p:spPr>
          <a:xfrm>
            <a:off x="8569024" y="1816607"/>
            <a:ext cx="2528887" cy="676275"/>
          </a:xfrm>
          <a:prstGeom prst="flowChartTerminator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600" b="1">
                <a:solidFill>
                  <a:schemeClr val="tx1"/>
                </a:solidFill>
              </a:rPr>
              <a:t>사용자 유형</a:t>
            </a:r>
            <a:endParaRPr lang="ko-KR" altLang="en-US" sz="2600" b="1">
              <a:solidFill>
                <a:schemeClr val="tx1"/>
              </a:solidFill>
            </a:endParaRPr>
          </a:p>
        </p:txBody>
      </p:sp>
      <p:sp>
        <p:nvSpPr>
          <p:cNvPr id="22" name=""/>
          <p:cNvSpPr/>
          <p:nvPr/>
        </p:nvSpPr>
        <p:spPr>
          <a:xfrm>
            <a:off x="4446793" y="2132838"/>
            <a:ext cx="3298413" cy="4176522"/>
          </a:xfrm>
          <a:prstGeom prst="rect">
            <a:avLst/>
          </a:prstGeom>
          <a:solidFill>
            <a:schemeClr val="l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일정 공유 서비스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빠르고 간편한 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팀원모집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대외활동 자료 공유 </a:t>
            </a:r>
            <a:endParaRPr lang="ko-KR" altLang="en-US" sz="2400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b="1">
                <a:solidFill>
                  <a:schemeClr val="tx1"/>
                </a:solidFill>
              </a:rPr>
              <a:t>  서비스  </a:t>
            </a:r>
            <a:endParaRPr lang="ko-KR" altLang="en-US" sz="2400" b="1">
              <a:solidFill>
                <a:schemeClr val="tx1"/>
              </a:solidFill>
            </a:endParaRPr>
          </a:p>
        </p:txBody>
      </p:sp>
      <p:sp>
        <p:nvSpPr>
          <p:cNvPr id="23" name=""/>
          <p:cNvSpPr/>
          <p:nvPr/>
        </p:nvSpPr>
        <p:spPr>
          <a:xfrm>
            <a:off x="4883134" y="1816607"/>
            <a:ext cx="2528887" cy="676275"/>
          </a:xfrm>
          <a:prstGeom prst="flowChartTerminator">
            <a:avLst/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600" b="1">
                <a:solidFill>
                  <a:schemeClr val="tx1"/>
                </a:solidFill>
              </a:rPr>
              <a:t>선호 서비스</a:t>
            </a:r>
            <a:endParaRPr lang="ko-KR" altLang="en-US" sz="26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907541" y="692658"/>
            <a:ext cx="3964306" cy="619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500"/>
              <a:t>STP </a:t>
            </a:r>
            <a:r>
              <a:rPr lang="ko-KR" altLang="en-US" sz="3500"/>
              <a:t>전략  </a:t>
            </a:r>
            <a:r>
              <a:rPr lang="en-US" altLang="ko-KR" sz="3500"/>
              <a:t>-</a:t>
            </a:r>
            <a:r>
              <a:rPr lang="ko-KR" altLang="en-US" sz="3500">
                <a:solidFill>
                  <a:schemeClr val="tx1"/>
                </a:solidFill>
              </a:rPr>
              <a:t> </a:t>
            </a:r>
            <a:r>
              <a:rPr lang="en-US" altLang="ko-KR" sz="3500">
                <a:solidFill>
                  <a:schemeClr val="tx1"/>
                </a:solidFill>
              </a:rPr>
              <a:t>Target</a:t>
            </a:r>
            <a:endParaRPr lang="en-US" altLang="ko-KR" sz="3500">
              <a:solidFill>
                <a:schemeClr val="tx1"/>
              </a:solidFill>
            </a:endParaRPr>
          </a:p>
        </p:txBody>
      </p:sp>
      <p:sp>
        <p:nvSpPr>
          <p:cNvPr id="5" name=""/>
          <p:cNvSpPr/>
          <p:nvPr/>
        </p:nvSpPr>
        <p:spPr>
          <a:xfrm>
            <a:off x="1775460" y="2060829"/>
            <a:ext cx="8281035" cy="93611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000"/>
              <a:t> </a:t>
            </a:r>
            <a:r>
              <a:rPr lang="en-US" altLang="ko-KR" sz="2000"/>
              <a:t>10대, 20대 초반의 활동적이고 대외활동에 관심이 많은</a:t>
            </a:r>
            <a:r>
              <a:rPr lang="ko-KR" altLang="en-US" sz="2000"/>
              <a:t> 학생 </a:t>
            </a:r>
            <a:r>
              <a:rPr lang="en-US" altLang="ko-KR" sz="2000"/>
              <a:t>층</a:t>
            </a:r>
            <a:endParaRPr lang="en-US" altLang="ko-KR" sz="2000"/>
          </a:p>
          <a:p>
            <a:pPr algn="ctr">
              <a:defRPr/>
            </a:pPr>
            <a:r>
              <a:rPr lang="en-US" altLang="ko-KR" sz="2000"/>
              <a:t>실무와 팀플경험이 필요한 취준생,</a:t>
            </a:r>
            <a:r>
              <a:rPr lang="ko-KR" altLang="en-US" sz="2000"/>
              <a:t> </a:t>
            </a:r>
            <a:r>
              <a:rPr lang="en-US" altLang="ko-KR" sz="2000"/>
              <a:t>대학생</a:t>
            </a:r>
            <a:endParaRPr lang="en-US" altLang="ko-KR" sz="2000"/>
          </a:p>
        </p:txBody>
      </p:sp>
      <p:sp>
        <p:nvSpPr>
          <p:cNvPr id="6" name=""/>
          <p:cNvSpPr/>
          <p:nvPr/>
        </p:nvSpPr>
        <p:spPr>
          <a:xfrm>
            <a:off x="1055370" y="1988820"/>
            <a:ext cx="1296162" cy="108013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3000" b="1"/>
              <a:t>연령</a:t>
            </a:r>
            <a:endParaRPr lang="ko-KR" altLang="en-US" sz="3000" b="1"/>
          </a:p>
        </p:txBody>
      </p:sp>
      <p:sp>
        <p:nvSpPr>
          <p:cNvPr id="7" name=""/>
          <p:cNvSpPr/>
          <p:nvPr/>
        </p:nvSpPr>
        <p:spPr>
          <a:xfrm>
            <a:off x="1775460" y="3356991"/>
            <a:ext cx="8281035" cy="93611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100"/>
              <a:t>빠르고 간단한 팀원모집, 신뢰성있는 정보획득</a:t>
            </a:r>
            <a:endParaRPr lang="ko-KR" altLang="en-US" sz="2100"/>
          </a:p>
        </p:txBody>
      </p:sp>
      <p:sp>
        <p:nvSpPr>
          <p:cNvPr id="8" name=""/>
          <p:cNvSpPr/>
          <p:nvPr/>
        </p:nvSpPr>
        <p:spPr>
          <a:xfrm>
            <a:off x="1055370" y="3284982"/>
            <a:ext cx="1296162" cy="108013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500" b="1"/>
              <a:t>중요</a:t>
            </a:r>
            <a:endParaRPr lang="ko-KR" altLang="en-US" sz="2500" b="1"/>
          </a:p>
          <a:p>
            <a:pPr algn="ctr">
              <a:defRPr/>
            </a:pPr>
            <a:r>
              <a:rPr lang="ko-KR" altLang="en-US" sz="2500" b="1"/>
              <a:t>가치</a:t>
            </a:r>
            <a:endParaRPr lang="ko-KR" altLang="en-US" sz="2500" b="1"/>
          </a:p>
        </p:txBody>
      </p:sp>
      <p:sp>
        <p:nvSpPr>
          <p:cNvPr id="9" name=""/>
          <p:cNvSpPr/>
          <p:nvPr/>
        </p:nvSpPr>
        <p:spPr>
          <a:xfrm>
            <a:off x="1775460" y="4653153"/>
            <a:ext cx="8281035" cy="93611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100"/>
              <a:t>대부분 사람들은 휴대폰을 소지하고 있으므로 </a:t>
            </a:r>
            <a:endParaRPr lang="ko-KR" altLang="en-US" sz="2100"/>
          </a:p>
          <a:p>
            <a:pPr algn="ctr">
              <a:defRPr/>
            </a:pPr>
            <a:r>
              <a:rPr lang="ko-KR" altLang="en-US" sz="2100"/>
              <a:t>앱을 활용하여 접근성,편의성 확보</a:t>
            </a:r>
            <a:endParaRPr lang="ko-KR" altLang="en-US" sz="2100"/>
          </a:p>
        </p:txBody>
      </p:sp>
      <p:sp>
        <p:nvSpPr>
          <p:cNvPr id="10" name=""/>
          <p:cNvSpPr/>
          <p:nvPr/>
        </p:nvSpPr>
        <p:spPr>
          <a:xfrm>
            <a:off x="1055370" y="4581144"/>
            <a:ext cx="1296162" cy="108013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2300" b="1"/>
              <a:t>접근성</a:t>
            </a:r>
            <a:endParaRPr lang="ko-KR" altLang="en-US" sz="23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1703451" y="1484757"/>
            <a:ext cx="9145143" cy="5040630"/>
          </a:xfrm>
          <a:prstGeom prst="rect">
            <a:avLst/>
          </a:prstGeom>
          <a:solidFill>
            <a:schemeClr val="lt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" name=""/>
          <p:cNvSpPr txBox="1"/>
          <p:nvPr/>
        </p:nvSpPr>
        <p:spPr>
          <a:xfrm>
            <a:off x="907541" y="692658"/>
            <a:ext cx="4972432" cy="619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500"/>
              <a:t>STP </a:t>
            </a:r>
            <a:r>
              <a:rPr lang="ko-KR" altLang="en-US" sz="3500"/>
              <a:t>전략  </a:t>
            </a:r>
            <a:r>
              <a:rPr lang="en-US" altLang="ko-KR" sz="3500"/>
              <a:t>-</a:t>
            </a:r>
            <a:r>
              <a:rPr lang="ko-KR" altLang="en-US" sz="3500">
                <a:solidFill>
                  <a:schemeClr val="tx1"/>
                </a:solidFill>
              </a:rPr>
              <a:t> </a:t>
            </a:r>
            <a:r>
              <a:rPr lang="en-US" altLang="ko-KR" sz="3500">
                <a:solidFill>
                  <a:schemeClr val="tx1"/>
                </a:solidFill>
              </a:rPr>
              <a:t>Positioning</a:t>
            </a:r>
            <a:endParaRPr lang="en-US" altLang="ko-KR" sz="3500">
              <a:solidFill>
                <a:schemeClr val="tx1"/>
              </a:solidFill>
            </a:endParaRPr>
          </a:p>
        </p:txBody>
      </p:sp>
      <p:cxnSp>
        <p:nvCxnSpPr>
          <p:cNvPr id="8" name=""/>
          <p:cNvCxnSpPr/>
          <p:nvPr/>
        </p:nvCxnSpPr>
        <p:spPr>
          <a:xfrm rot="16200000">
            <a:off x="983361" y="4293108"/>
            <a:ext cx="3312414" cy="0"/>
          </a:xfrm>
          <a:prstGeom prst="straightConnector1">
            <a:avLst/>
          </a:prstGeom>
          <a:ln w="571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>
            <a:off x="2639568" y="5949315"/>
            <a:ext cx="6192774" cy="0"/>
          </a:xfrm>
          <a:prstGeom prst="straightConnector1">
            <a:avLst/>
          </a:prstGeom>
          <a:ln w="5715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"/>
          <p:cNvCxnSpPr/>
          <p:nvPr/>
        </p:nvCxnSpPr>
        <p:spPr>
          <a:xfrm rot="16200000" flipH="1">
            <a:off x="4079748" y="4293108"/>
            <a:ext cx="3312414" cy="0"/>
          </a:xfrm>
          <a:prstGeom prst="line">
            <a:avLst/>
          </a:prstGeom>
          <a:ln w="28575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"/>
          <p:cNvCxnSpPr/>
          <p:nvPr/>
        </p:nvCxnSpPr>
        <p:spPr>
          <a:xfrm>
            <a:off x="2639568" y="4293108"/>
            <a:ext cx="5904738" cy="0"/>
          </a:xfrm>
          <a:prstGeom prst="line">
            <a:avLst/>
          </a:prstGeom>
          <a:ln w="28575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3393757" y="4221099"/>
            <a:ext cx="1053719" cy="1090803"/>
          </a:xfrm>
          <a:prstGeom prst="rect">
            <a:avLst/>
          </a:prstGeom>
        </p:spPr>
      </p:pic>
      <p:pic>
        <p:nvPicPr>
          <p:cNvPr id="13" name="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6276022" y="4717669"/>
            <a:ext cx="1053719" cy="1031621"/>
          </a:xfrm>
          <a:prstGeom prst="rect">
            <a:avLst/>
          </a:prstGeom>
        </p:spPr>
      </p:pic>
      <p:pic>
        <p:nvPicPr>
          <p:cNvPr id="14" name=""/>
          <p:cNvPicPr/>
          <p:nvPr/>
        </p:nvPicPr>
        <p:blipFill rotWithShape="1">
          <a:blip r:embed="rId5">
            <a:lum/>
          </a:blip>
          <a:srcRect/>
          <a:stretch>
            <a:fillRect/>
          </a:stretch>
        </p:blipFill>
        <p:spPr>
          <a:xfrm>
            <a:off x="3393756" y="3152013"/>
            <a:ext cx="1053719" cy="553974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8976360" y="5628513"/>
            <a:ext cx="932688" cy="641604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/>
              <a:t>협업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가능성</a:t>
            </a:r>
            <a:endParaRPr lang="ko-KR" altLang="en-US"/>
          </a:p>
        </p:txBody>
      </p:sp>
      <p:sp>
        <p:nvSpPr>
          <p:cNvPr id="17" name=""/>
          <p:cNvSpPr txBox="1"/>
          <p:nvPr/>
        </p:nvSpPr>
        <p:spPr>
          <a:xfrm>
            <a:off x="2213229" y="2060829"/>
            <a:ext cx="852678" cy="36728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편의성</a:t>
            </a:r>
            <a:endParaRPr lang="ko-KR" altLang="en-US"/>
          </a:p>
        </p:txBody>
      </p:sp>
      <p:pic>
        <p:nvPicPr>
          <p:cNvPr id="5" name=""/>
          <p:cNvPicPr/>
          <p:nvPr/>
        </p:nvPicPr>
        <p:blipFill rotWithShape="1">
          <a:blip r:embed="rId6">
            <a:lum/>
          </a:blip>
          <a:srcRect/>
          <a:stretch>
            <a:fillRect/>
          </a:stretch>
        </p:blipFill>
        <p:spPr>
          <a:xfrm>
            <a:off x="6276022" y="3839337"/>
            <a:ext cx="1053719" cy="878332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29741" y="2468971"/>
            <a:ext cx="1128705" cy="1237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4282" y="0"/>
            <a:ext cx="12200562" cy="6858000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868299" y="692658"/>
            <a:ext cx="1909191" cy="61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3500"/>
              <a:t>기대효과</a:t>
            </a:r>
            <a:endParaRPr lang="ko-KR" altLang="en-US" sz="3500"/>
          </a:p>
        </p:txBody>
      </p:sp>
      <p:sp>
        <p:nvSpPr>
          <p:cNvPr id="6" name=""/>
          <p:cNvSpPr/>
          <p:nvPr/>
        </p:nvSpPr>
        <p:spPr>
          <a:xfrm>
            <a:off x="983361" y="1772793"/>
            <a:ext cx="10225278" cy="396049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>
            <a:solidFill>
              <a:schemeClr val="accent1">
                <a:shade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공모전, 팀 프로젝트의 팀워크 문화를 생성하여 단골 고객 확보</a:t>
            </a:r>
            <a:endParaRPr lang="en-US" altLang="ko-KR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/>
                <a:ea typeface="맑은 고딕"/>
              </a:rPr>
              <a:t>  </a:t>
            </a: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사용자 맞춤 서비스 제공으로 사용자 만족도 향상</a:t>
            </a:r>
            <a:endParaRPr lang="en-US" altLang="ko-KR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/>
                <a:ea typeface="맑은 고딕"/>
              </a:rPr>
              <a:t>  </a:t>
            </a: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자료나 지식의 공유 증가로 얻어가는 정보량이 많아짐</a:t>
            </a:r>
            <a:endParaRPr lang="en-US" altLang="ko-KR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/>
                <a:ea typeface="맑은 고딕"/>
              </a:rPr>
              <a:t>  </a:t>
            </a: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합격자 정보 공유 게시판이 있어서 성취율에 도움 된다</a:t>
            </a:r>
            <a:endParaRPr lang="en-US" altLang="ko-KR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/>
                <a:ea typeface="맑은 고딕"/>
              </a:rPr>
              <a:t>  </a:t>
            </a: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사업 확장이 쉽고 기존 앱과의 차별로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기업에 투자를 이끌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수 </a:t>
            </a: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있음</a:t>
            </a:r>
            <a:endParaRPr lang="ko-KR" altLang="en-US" sz="24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800">
                <a:solidFill>
                  <a:schemeClr val="tx1"/>
                </a:solidFill>
                <a:latin typeface="맑은 고딕"/>
                <a:ea typeface="맑은 고딕"/>
              </a:rPr>
              <a:t>  </a:t>
            </a:r>
            <a:endParaRPr lang="ko-KR" altLang="en-US" sz="800">
              <a:solidFill>
                <a:schemeClr val="tx1"/>
              </a:solidFill>
              <a:latin typeface="맑은 고딕"/>
              <a:ea typeface="맑은 고딕"/>
            </a:endParaRPr>
          </a:p>
          <a:p>
            <a:pPr marL="101600">
              <a:defRPr/>
            </a:pPr>
            <a:r>
              <a:rPr lang="ko-KR" altLang="en-US" sz="2400">
                <a:solidFill>
                  <a:schemeClr val="tx1"/>
                </a:solidFill>
                <a:latin typeface="맑은 고딕"/>
                <a:ea typeface="맑은 고딕"/>
              </a:rPr>
              <a:t>ㆍ</a:t>
            </a:r>
            <a:r>
              <a:rPr lang="en-US" altLang="ko-KR" sz="2400">
                <a:solidFill>
                  <a:schemeClr val="tx1"/>
                </a:solidFill>
                <a:latin typeface="맑은 고딕"/>
                <a:ea typeface="맑은 고딕"/>
              </a:rPr>
              <a:t>다모아 앱을 이용해서 사용자의 스팩 향상에 기여</a:t>
            </a:r>
            <a:endParaRPr lang="en-US" altLang="ko-KR" sz="240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582</ep:Words>
  <ep:PresentationFormat>화면 슬라이드 쇼(4:3)</ep:PresentationFormat>
  <ep:Paragraphs>147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2021-05-28T10:12:50.116</dcterms:created>
  <dc:creator>이상민</dc:creator>
  <cp:lastModifiedBy>이상민</cp:lastModifiedBy>
  <dcterms:modified xsi:type="dcterms:W3CDTF">2021-06-12T15:28:58.772</dcterms:modified>
  <cp:revision>62</cp:revision>
  <cp:version>1000.0000.01</cp:version>
</cp:coreProperties>
</file>