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54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097024" y="2855595"/>
            <a:ext cx="4503039" cy="37604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900" b="1"/>
              <a:t>가장 중요</a:t>
            </a:r>
            <a:r>
              <a:rPr lang="en-US" altLang="ko-KR" sz="1900" b="1"/>
              <a:t>:</a:t>
            </a:r>
            <a:r>
              <a:rPr lang="ko-KR" altLang="en-US"/>
              <a:t>  기존 아이디어랑 중복되면 안됨</a:t>
            </a:r>
            <a:endParaRPr lang="en-US" altLang="ko-KR"/>
          </a:p>
        </p:txBody>
      </p:sp>
      <p:sp>
        <p:nvSpPr>
          <p:cNvPr id="5" name=""/>
          <p:cNvSpPr txBox="1"/>
          <p:nvPr/>
        </p:nvSpPr>
        <p:spPr>
          <a:xfrm>
            <a:off x="2065779" y="1868805"/>
            <a:ext cx="4030220" cy="98679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900" b="1"/>
              <a:t>기술 한계 </a:t>
            </a:r>
            <a:endParaRPr lang="ko-KR" altLang="en-US" sz="1900" b="1"/>
          </a:p>
          <a:p>
            <a:pPr>
              <a:defRPr/>
            </a:pPr>
            <a:endParaRPr lang="ko-KR" altLang="en-US" sz="400" b="1"/>
          </a:p>
          <a:p>
            <a:pPr>
              <a:defRPr/>
            </a:pPr>
            <a:r>
              <a:rPr lang="ko-KR" altLang="en-US" sz="1900" b="1"/>
              <a:t>   </a:t>
            </a:r>
            <a:r>
              <a:rPr lang="en-US" altLang="ko-KR" sz="1700" b="0"/>
              <a:t>-</a:t>
            </a:r>
            <a:r>
              <a:rPr lang="ko-KR" altLang="en-US" sz="1700" b="0"/>
              <a:t> </a:t>
            </a:r>
            <a:r>
              <a:rPr lang="en-US" altLang="ko-KR" sz="1700" b="0"/>
              <a:t>1</a:t>
            </a:r>
            <a:r>
              <a:rPr lang="ko-KR" altLang="en-US" sz="1700" b="0"/>
              <a:t>차심사 통과되면 실제로 만들어야함</a:t>
            </a:r>
            <a:endParaRPr lang="en-US" altLang="ko-KR" sz="1700" b="0"/>
          </a:p>
          <a:p>
            <a:pPr>
              <a:defRPr/>
            </a:pPr>
            <a:r>
              <a:rPr lang="ko-KR" altLang="en-US" sz="1700" b="0"/>
              <a:t>   </a:t>
            </a:r>
            <a:r>
              <a:rPr lang="en-US" altLang="ko-KR" sz="1700" b="0"/>
              <a:t>-</a:t>
            </a:r>
            <a:r>
              <a:rPr lang="ko-KR" altLang="en-US" sz="1700" b="0"/>
              <a:t>  기술이 너무 어려우면 뒷감당 안됨</a:t>
            </a:r>
            <a:endParaRPr lang="en-US" altLang="ko-KR" sz="1700" b="0"/>
          </a:p>
        </p:txBody>
      </p:sp>
      <p:sp>
        <p:nvSpPr>
          <p:cNvPr id="7" name=""/>
          <p:cNvSpPr txBox="1"/>
          <p:nvPr/>
        </p:nvSpPr>
        <p:spPr>
          <a:xfrm>
            <a:off x="1569529" y="5301234"/>
            <a:ext cx="7496937" cy="6404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/>
              <a:t>심사 방법 참고</a:t>
            </a:r>
            <a:endParaRPr lang="ko-KR" altLang="en-US"/>
          </a:p>
          <a:p>
            <a:pPr>
              <a:defRPr/>
            </a:pPr>
            <a:r>
              <a:rPr lang="ko-KR" altLang="en-US"/>
              <a:t>  - 1차 심사 : 아이디어 우수성, 사업화 또는 창업가능성, 기대효과 등 심사</a:t>
            </a: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1199386" y="908685"/>
            <a:ext cx="6480810" cy="72885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4200" b="1"/>
              <a:t>자료조사 및 브레인스토밍</a:t>
            </a:r>
            <a:endParaRPr lang="ko-KR" altLang="en-US" sz="4200" b="1"/>
          </a:p>
        </p:txBody>
      </p:sp>
      <p:sp>
        <p:nvSpPr>
          <p:cNvPr id="9" name=""/>
          <p:cNvSpPr txBox="1"/>
          <p:nvPr/>
        </p:nvSpPr>
        <p:spPr>
          <a:xfrm>
            <a:off x="1559433" y="3362706"/>
            <a:ext cx="5037581" cy="2083689"/>
          </a:xfrm>
          <a:prstGeom prst="rect">
            <a:avLst/>
          </a:prstGeom>
        </p:spPr>
        <p:txBody>
          <a:bodyPr wrap="none">
            <a:spAutoFit/>
          </a:bodyPr>
          <a:p>
            <a:pPr>
              <a:buClr>
                <a:schemeClr val="tx1"/>
              </a:buClr>
              <a:buNone/>
              <a:defRPr/>
            </a:pPr>
            <a:r>
              <a:rPr lang="ko-KR" altLang="en-US" sz="2500" b="1"/>
              <a:t>자료조사 단계</a:t>
            </a:r>
            <a:endParaRPr lang="ko-KR" altLang="en-US" sz="2500" b="1"/>
          </a:p>
          <a:p>
            <a:pPr>
              <a:buClr>
                <a:schemeClr val="tx1"/>
              </a:buClr>
              <a:buNone/>
              <a:defRPr/>
            </a:pPr>
            <a:endParaRPr lang="ko-KR" altLang="en-US" sz="500" b="1"/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1700">
                <a:solidFill>
                  <a:schemeClr val="tx1"/>
                </a:solidFill>
              </a:rPr>
              <a:t> </a:t>
            </a:r>
            <a:r>
              <a:rPr lang="en-US" altLang="ko-KR" sz="1700">
                <a:solidFill>
                  <a:schemeClr val="tx1"/>
                </a:solidFill>
              </a:rPr>
              <a:t>1)</a:t>
            </a:r>
            <a:r>
              <a:rPr lang="ko-KR" altLang="en-US" sz="1700">
                <a:solidFill>
                  <a:schemeClr val="tx1"/>
                </a:solidFill>
              </a:rPr>
              <a:t> 부동산 관련 문제점 파악</a:t>
            </a:r>
            <a:endParaRPr lang="ko-KR" altLang="en-US" sz="170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1700">
                <a:solidFill>
                  <a:schemeClr val="tx1"/>
                </a:solidFill>
              </a:rPr>
              <a:t> </a:t>
            </a:r>
            <a:r>
              <a:rPr lang="en-US" altLang="ko-KR" sz="1700">
                <a:solidFill>
                  <a:schemeClr val="tx1"/>
                </a:solidFill>
              </a:rPr>
              <a:t>2)</a:t>
            </a:r>
            <a:r>
              <a:rPr lang="ko-KR" altLang="en-US" sz="1700">
                <a:solidFill>
                  <a:schemeClr val="tx1"/>
                </a:solidFill>
              </a:rPr>
              <a:t> 공공데이터 참고해서 제품</a:t>
            </a:r>
            <a:r>
              <a:rPr lang="en-US" altLang="ko-KR" sz="1700">
                <a:solidFill>
                  <a:schemeClr val="tx1"/>
                </a:solidFill>
              </a:rPr>
              <a:t>/</a:t>
            </a:r>
            <a:r>
              <a:rPr lang="ko-KR" altLang="en-US" sz="1700">
                <a:solidFill>
                  <a:schemeClr val="tx1"/>
                </a:solidFill>
              </a:rPr>
              <a:t>서비스 아이디어 도출</a:t>
            </a:r>
            <a:endParaRPr lang="ko-KR" altLang="en-US" sz="170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1700">
                <a:solidFill>
                  <a:schemeClr val="tx1"/>
                </a:solidFill>
              </a:rPr>
              <a:t>   </a:t>
            </a:r>
            <a:r>
              <a:rPr lang="en-US" altLang="ko-KR" sz="1700">
                <a:solidFill>
                  <a:schemeClr val="tx1"/>
                </a:solidFill>
              </a:rPr>
              <a:t>&gt;</a:t>
            </a:r>
            <a:r>
              <a:rPr lang="ko-KR" altLang="en-US" sz="1700">
                <a:solidFill>
                  <a:schemeClr val="tx1"/>
                </a:solidFill>
              </a:rPr>
              <a:t> ★수익창출 가능한걸로</a:t>
            </a:r>
            <a:r>
              <a:rPr lang="ko-KR" altLang="en-US" sz="1700">
                <a:solidFill>
                  <a:schemeClr val="tx1"/>
                </a:solidFill>
              </a:rPr>
              <a:t>★</a:t>
            </a:r>
            <a:endParaRPr lang="ko-KR" altLang="en-US" sz="170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mc:Ignorable="hp" hp:hslEmbossed="0">
              <a:latin typeface="+mn-lt"/>
              <a:ea typeface="+mn-ea"/>
              <a:cs typeface="+mn-cs"/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1700">
                <a:solidFill>
                  <a:schemeClr val="tx1"/>
                </a:solidFill>
              </a:rPr>
              <a:t>◈안내문</a:t>
            </a:r>
            <a:r>
              <a:rPr lang="en-US" altLang="ko-KR" sz="1700">
                <a:solidFill>
                  <a:schemeClr val="tx1"/>
                </a:solidFill>
              </a:rPr>
              <a:t>-</a:t>
            </a:r>
            <a:r>
              <a:rPr lang="ko-KR" altLang="en-US" sz="1700">
                <a:solidFill>
                  <a:schemeClr val="tx1"/>
                </a:solidFill>
              </a:rPr>
              <a:t>한국부동산원</a:t>
            </a:r>
            <a:r>
              <a:rPr lang="ko-KR" altLang="en-US" sz="1600" b="1">
                <a:latin typeface="HY헤드라인M"/>
                <a:ea typeface="HY헤드라인M"/>
              </a:rPr>
              <a:t> 공공데이터 현황 참고</a:t>
            </a:r>
            <a:endParaRPr lang="ko-KR" altLang="en-US" sz="1600" b="1">
              <a:latin typeface="HY헤드라인M"/>
              <a:ea typeface="HY헤드라인M"/>
            </a:endParaRPr>
          </a:p>
          <a:p>
            <a:pPr>
              <a:buClr>
                <a:schemeClr val="tx1"/>
              </a:buClr>
              <a:buNone/>
              <a:defRPr/>
            </a:pPr>
            <a:endParaRPr lang="ko-KR" altLang="en-US" sz="1600" b="1">
              <a:latin typeface="HY헤드라인M"/>
              <a:ea typeface="HY헤드라인M"/>
            </a:endParaRPr>
          </a:p>
        </p:txBody>
      </p:sp>
      <p:sp>
        <p:nvSpPr>
          <p:cNvPr id="11" name=""/>
          <p:cNvSpPr/>
          <p:nvPr/>
        </p:nvSpPr>
        <p:spPr>
          <a:xfrm>
            <a:off x="6816090" y="1868805"/>
            <a:ext cx="3312414" cy="1174813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 txBox="1"/>
          <p:nvPr/>
        </p:nvSpPr>
        <p:spPr>
          <a:xfrm>
            <a:off x="6813804" y="1916811"/>
            <a:ext cx="3314700" cy="155790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1.</a:t>
            </a:r>
            <a:r>
              <a:rPr lang="ko-KR" altLang="en-US" sz="2000" b="1"/>
              <a:t> 실제로 창업할 수 있는 것 </a:t>
            </a:r>
            <a:endParaRPr lang="ko-KR" altLang="en-US" sz="2000" b="1"/>
          </a:p>
          <a:p>
            <a:pPr>
              <a:defRPr/>
            </a:pPr>
            <a:endParaRPr lang="ko-KR" altLang="en-US" sz="2000" b="1"/>
          </a:p>
          <a:p>
            <a:pPr>
              <a:defRPr/>
            </a:pPr>
            <a:r>
              <a:rPr lang="en-US" altLang="ko-KR" sz="2000" b="1"/>
              <a:t>2.</a:t>
            </a:r>
            <a:r>
              <a:rPr lang="ko-KR" altLang="en-US" sz="2000" b="1"/>
              <a:t> 수익 창출 가능한 것</a:t>
            </a:r>
            <a:endParaRPr lang="ko-KR" altLang="en-US" sz="2000" b="1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280569" y="188595"/>
            <a:ext cx="8712043" cy="65055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200" b="1"/>
              <a:t>아이디어 </a:t>
            </a:r>
            <a:r>
              <a:rPr lang="en-US" altLang="ko-KR" sz="2200" b="1"/>
              <a:t>: </a:t>
            </a:r>
            <a:r>
              <a:rPr lang="ko-KR" altLang="en-US" sz="2500" b="1"/>
              <a:t>중개인 없이 부동산 계약하는 플랫폼 </a:t>
            </a:r>
            <a:r>
              <a:rPr lang="en-US" altLang="ko-KR" sz="2500" b="1"/>
              <a:t>(</a:t>
            </a:r>
            <a:r>
              <a:rPr lang="ko-KR" altLang="en-US" sz="2500" b="1"/>
              <a:t> 웹</a:t>
            </a:r>
            <a:r>
              <a:rPr lang="en-US" altLang="ko-KR" sz="2500" b="1"/>
              <a:t> or</a:t>
            </a:r>
            <a:r>
              <a:rPr lang="ko-KR" altLang="en-US" sz="2500" b="1"/>
              <a:t> 앱 </a:t>
            </a:r>
            <a:r>
              <a:rPr lang="en-US" altLang="ko-KR" sz="2500" b="1"/>
              <a:t>)</a:t>
            </a:r>
            <a:endParaRPr lang="en-US" altLang="ko-KR" sz="25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en-US" altLang="ko-KR" sz="2200" b="1"/>
              <a:t>//</a:t>
            </a:r>
            <a:r>
              <a:rPr lang="ko-KR" altLang="en-US" sz="2200" b="1"/>
              <a:t> 중개인 없이 부동산 계약이 가능함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요약 </a:t>
            </a:r>
            <a:r>
              <a:rPr lang="en-US" altLang="ko-KR" sz="2200" b="1"/>
              <a:t>:</a:t>
            </a:r>
            <a:r>
              <a:rPr lang="ko-KR" altLang="en-US" sz="2200" b="1"/>
              <a:t> 중계 수수료 절약을 위해 중개인 없이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부동산 계약을 진행</a:t>
            </a:r>
            <a:r>
              <a:rPr lang="en-US" altLang="ko-KR" sz="2200" b="1"/>
              <a:t>.</a:t>
            </a:r>
            <a:endParaRPr lang="en-US" altLang="ko-KR" sz="2200" b="1"/>
          </a:p>
          <a:p>
            <a:pPr>
              <a:defRPr/>
            </a:pPr>
            <a:endParaRPr lang="en-US" altLang="ko-KR" sz="2200" b="1"/>
          </a:p>
          <a:p>
            <a:pPr>
              <a:defRPr/>
            </a:pPr>
            <a:r>
              <a:rPr lang="ko-KR" altLang="en-US" sz="2200" b="1"/>
              <a:t>중개 필요 요건 </a:t>
            </a:r>
            <a:r>
              <a:rPr lang="en-US" altLang="ko-KR" sz="2200" b="1"/>
              <a:t>:</a:t>
            </a:r>
            <a:r>
              <a:rPr lang="ko-KR" altLang="en-US" sz="2200" b="1"/>
              <a:t> 사기방지 </a:t>
            </a:r>
            <a:r>
              <a:rPr lang="en-US" altLang="ko-KR" sz="2200" b="1"/>
              <a:t>=</a:t>
            </a:r>
            <a:r>
              <a:rPr lang="ko-KR" altLang="en-US" sz="2200" b="1"/>
              <a:t> 허위매물</a:t>
            </a:r>
            <a:r>
              <a:rPr lang="en-US" altLang="ko-KR" sz="2200" b="1"/>
              <a:t>,</a:t>
            </a:r>
            <a:r>
              <a:rPr lang="ko-KR" altLang="en-US" sz="2200" b="1"/>
              <a:t> 상대방 신분 확인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앱 기능 </a:t>
            </a:r>
            <a:r>
              <a:rPr lang="en-US" altLang="ko-KR" sz="2200" b="1"/>
              <a:t>:</a:t>
            </a:r>
            <a:r>
              <a:rPr lang="ko-KR" altLang="en-US" sz="2200" b="1"/>
              <a:t> 허위매물 방지</a:t>
            </a:r>
            <a:r>
              <a:rPr lang="en-US" altLang="ko-KR" sz="2200" b="1"/>
              <a:t>,</a:t>
            </a:r>
            <a:r>
              <a:rPr lang="ko-KR" altLang="en-US" sz="2200" b="1"/>
              <a:t> 거래 상대방 신분 확인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신분증, 임대차 건물 공과금 영수증, 등기권리증 서로 대조 확인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부동산 계약 확인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보완할 점 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  </a:t>
            </a:r>
            <a:r>
              <a:rPr lang="en-US" altLang="ko-KR" sz="2200" b="1"/>
              <a:t>&gt;</a:t>
            </a:r>
            <a:r>
              <a:rPr lang="ko-KR" altLang="en-US" sz="2200" b="1"/>
              <a:t>경쟁 앱들과의 차별화</a:t>
            </a: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  </a:t>
            </a:r>
            <a:r>
              <a:rPr lang="en-US" altLang="ko-KR" sz="2200" b="1"/>
              <a:t>-</a:t>
            </a:r>
            <a:r>
              <a:rPr lang="ko-KR" altLang="en-US" sz="2200" b="1"/>
              <a:t>국토교통부 부동산거래 전자계약시스템</a:t>
            </a:r>
            <a:r>
              <a:rPr lang="en-US" altLang="ko-KR" sz="2200" b="1"/>
              <a:t>(</a:t>
            </a:r>
            <a:r>
              <a:rPr lang="ko-KR" altLang="en-US" sz="2200" b="1"/>
              <a:t>공인중개사가 관리</a:t>
            </a:r>
            <a:r>
              <a:rPr lang="en-US" altLang="ko-KR" sz="2200" b="1"/>
              <a:t>)</a:t>
            </a:r>
            <a:endParaRPr lang="en-US" altLang="ko-KR" sz="2200" b="1"/>
          </a:p>
          <a:p>
            <a:pPr>
              <a:defRPr/>
            </a:pPr>
            <a:r>
              <a:rPr lang="ko-KR" altLang="en-US" sz="2200" b="1"/>
              <a:t>  </a:t>
            </a:r>
            <a:r>
              <a:rPr lang="en-US" altLang="ko-KR" sz="2200" b="1"/>
              <a:t>-</a:t>
            </a:r>
            <a:r>
              <a:rPr lang="ko-KR" altLang="en-US" sz="2200" b="1"/>
              <a:t>엘리시아, 모바일 부동산 간편거래 앱</a:t>
            </a: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endParaRPr lang="ko-KR" altLang="en-US" sz="2200" b="1"/>
          </a:p>
          <a:p>
            <a:pPr>
              <a:defRPr/>
            </a:pPr>
            <a:r>
              <a:rPr lang="ko-KR" altLang="en-US" sz="2200" b="1"/>
              <a:t>수익구조 </a:t>
            </a:r>
            <a:r>
              <a:rPr lang="en-US" altLang="ko-KR" sz="2200" b="1"/>
              <a:t>:</a:t>
            </a:r>
            <a:r>
              <a:rPr lang="ko-KR" altLang="en-US" sz="2200" b="1"/>
              <a:t> 매우 저렴한 중개수수료  </a:t>
            </a:r>
            <a:r>
              <a:rPr lang="en-US" altLang="ko-KR" sz="2200" b="1"/>
              <a:t>+</a:t>
            </a:r>
            <a:r>
              <a:rPr lang="ko-KR" altLang="en-US" sz="2200" b="1"/>
              <a:t> 추가사항 필요</a:t>
            </a:r>
            <a:endParaRPr lang="ko-KR" altLang="en-US" sz="2200" b="1"/>
          </a:p>
        </p:txBody>
      </p:sp>
      <p:sp>
        <p:nvSpPr>
          <p:cNvPr id="5" name=""/>
          <p:cNvSpPr txBox="1"/>
          <p:nvPr/>
        </p:nvSpPr>
        <p:spPr>
          <a:xfrm>
            <a:off x="8516303" y="1193292"/>
            <a:ext cx="2836354" cy="137655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200">
                <a:latin typeface="한양중고딕"/>
                <a:ea typeface="한양중고딕"/>
              </a:rPr>
              <a:t>사용 오픈데이터</a:t>
            </a: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r>
              <a:rPr lang="ko-KR" altLang="en-US" sz="1200">
                <a:latin typeface="한양중고딕"/>
                <a:ea typeface="한양중고딕"/>
              </a:rPr>
              <a:t>한국부동산원 아파트 실거래가격지수</a:t>
            </a: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r>
              <a:rPr lang="ko-KR" altLang="en-US" sz="1200">
                <a:latin typeface="한양중고딕"/>
                <a:ea typeface="한양중고딕"/>
              </a:rPr>
              <a:t>전국주택가격동향조사 통계 조회 서비스</a:t>
            </a: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endParaRPr lang="ko-KR" altLang="en-US" sz="1200">
              <a:latin typeface="한양중고딕"/>
              <a:ea typeface="한양중고딕"/>
            </a:endParaRPr>
          </a:p>
          <a:p>
            <a:pPr>
              <a:defRPr/>
            </a:pPr>
            <a:r>
              <a:rPr lang="ko-KR" altLang="en-US" sz="1200">
                <a:latin typeface="한양중고딕"/>
                <a:ea typeface="한양중고딕"/>
              </a:rPr>
              <a:t>월세가격동향조사 통계 조회 서비스</a:t>
            </a:r>
            <a:endParaRPr lang="ko-KR" altLang="en-US" sz="1200">
              <a:latin typeface="한양중고딕"/>
              <a:ea typeface="한양중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886205" y="364806"/>
            <a:ext cx="5501260" cy="558641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 부동산 계산   대출 계산</a:t>
            </a:r>
            <a:r>
              <a:rPr lang="en-US" altLang="ko-KR"/>
              <a:t>.</a:t>
            </a:r>
            <a:r>
              <a:rPr lang="ko-KR" altLang="en-US"/>
              <a:t>         </a:t>
            </a:r>
            <a:r>
              <a:rPr lang="en-US" altLang="ko-KR"/>
              <a:t>-</a:t>
            </a:r>
            <a:r>
              <a:rPr lang="ko-KR" altLang="en-US"/>
              <a:t>  있음</a:t>
            </a:r>
            <a:endParaRPr lang="ko-KR" altLang="en-US"/>
          </a:p>
          <a:p>
            <a:pPr>
              <a:defRPr/>
            </a:pPr>
            <a:r>
              <a:rPr lang="ko-KR" altLang="en-US"/>
              <a:t>    대출금 계산 </a:t>
            </a:r>
            <a:r>
              <a:rPr lang="en-US" altLang="ko-KR"/>
              <a:t>+</a:t>
            </a:r>
            <a:r>
              <a:rPr lang="ko-KR" altLang="en-US"/>
              <a:t> 제도 활용 서비스</a:t>
            </a:r>
            <a:endParaRPr lang="ko-KR" altLang="en-US"/>
          </a:p>
          <a:p>
            <a:pPr>
              <a:defRPr/>
            </a:pPr>
            <a:r>
              <a:rPr lang="en-US" altLang="ko-KR"/>
              <a:t>//</a:t>
            </a:r>
            <a:r>
              <a:rPr lang="ko-KR" altLang="en-US"/>
              <a:t> 매매자 한해 전세자 구해 차용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en-US" altLang="ko-KR"/>
              <a:t>/*</a:t>
            </a:r>
            <a:r>
              <a:rPr lang="ko-KR" altLang="en-US"/>
              <a:t>  전세 활용 명의 중도금 대출 집 상황에 맞춰서 </a:t>
            </a:r>
            <a:r>
              <a:rPr lang="en-US" altLang="ko-KR"/>
              <a:t>*/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//3.</a:t>
            </a:r>
            <a:r>
              <a:rPr lang="ko-KR" altLang="en-US"/>
              <a:t> 선호하는 디자인 집 </a:t>
            </a:r>
            <a:r>
              <a:rPr lang="en-US" altLang="ko-KR"/>
              <a:t>(</a:t>
            </a:r>
            <a:r>
              <a:rPr lang="ko-KR" altLang="en-US"/>
              <a:t>유튜브활용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4.</a:t>
            </a:r>
            <a:r>
              <a:rPr lang="ko-KR" altLang="en-US"/>
              <a:t> 부동산 내역 사기 조사 </a:t>
            </a:r>
            <a:r>
              <a:rPr lang="en-US" altLang="ko-KR"/>
              <a:t>(ex. </a:t>
            </a:r>
            <a:r>
              <a:rPr lang="ko-KR" altLang="en-US"/>
              <a:t>더치트</a:t>
            </a:r>
            <a:r>
              <a:rPr lang="en-US" altLang="ko-KR"/>
              <a:t>)</a:t>
            </a:r>
            <a:r>
              <a:rPr lang="ko-KR" altLang="en-US"/>
              <a:t>  사기 내역 확인</a:t>
            </a:r>
            <a:endParaRPr lang="ko-KR" altLang="en-US"/>
          </a:p>
          <a:p>
            <a:pPr>
              <a:defRPr/>
            </a:pP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8</a:t>
            </a:r>
            <a:r>
              <a:rPr lang="ko-KR" altLang="en-US"/>
              <a:t>번이랑 활용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 대학생 전용 부동산 어플 </a:t>
            </a:r>
            <a:r>
              <a:rPr lang="en-US" altLang="ko-KR"/>
              <a:t>-&gt;</a:t>
            </a:r>
            <a:r>
              <a:rPr lang="ko-KR" altLang="en-US"/>
              <a:t> 상한선 지정</a:t>
            </a:r>
            <a:endParaRPr lang="ko-KR" altLang="en-US"/>
          </a:p>
          <a:p>
            <a:pPr>
              <a:defRPr/>
            </a:pPr>
            <a:r>
              <a:rPr lang="ko-KR" altLang="en-US"/>
              <a:t>   </a:t>
            </a:r>
            <a:r>
              <a:rPr lang="en-US" altLang="ko-KR"/>
              <a:t>-&gt;</a:t>
            </a:r>
            <a:r>
              <a:rPr lang="ko-KR" altLang="en-US"/>
              <a:t> 월세 계약 공실 시 알림 및 양도 서비스 등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6.</a:t>
            </a:r>
            <a:r>
              <a:rPr lang="ko-KR" altLang="en-US"/>
              <a:t> 사진 입력시 허위매물 탐지  </a:t>
            </a:r>
            <a:r>
              <a:rPr lang="en-US" altLang="ko-KR"/>
              <a:t>-</a:t>
            </a:r>
            <a:r>
              <a:rPr lang="ko-KR" altLang="en-US"/>
              <a:t> 보완</a:t>
            </a:r>
            <a:endParaRPr lang="ko-KR" altLang="en-US"/>
          </a:p>
          <a:p>
            <a:pPr>
              <a:defRPr/>
            </a:pPr>
            <a:r>
              <a:rPr lang="ko-KR" altLang="en-US"/>
              <a:t> </a:t>
            </a:r>
            <a:r>
              <a:rPr lang="en-US" altLang="ko-KR"/>
              <a:t>(8</a:t>
            </a:r>
            <a:r>
              <a:rPr lang="ko-KR" altLang="en-US"/>
              <a:t>번이랑 활용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7.</a:t>
            </a:r>
            <a:r>
              <a:rPr lang="ko-KR" altLang="en-US" b="1"/>
              <a:t>투자용 부동산 수익 예측 앱   </a:t>
            </a:r>
            <a:r>
              <a:rPr lang="en-US" altLang="ko-KR" b="1"/>
              <a:t>-</a:t>
            </a:r>
            <a:r>
              <a:rPr lang="ko-KR" altLang="en-US" b="1"/>
              <a:t>  있긴 있음</a:t>
            </a:r>
            <a:endParaRPr lang="ko-KR" altLang="en-US" b="1"/>
          </a:p>
          <a:p>
            <a:pPr>
              <a:defRPr/>
            </a:pPr>
            <a:r>
              <a:rPr lang="en-US" altLang="ko-KR" b="1"/>
              <a:t>-&gt;</a:t>
            </a:r>
            <a:r>
              <a:rPr lang="ko-KR" altLang="en-US" b="1"/>
              <a:t> 보완필요</a:t>
            </a:r>
            <a:endParaRPr lang="ko-KR" altLang="en-US" b="1"/>
          </a:p>
          <a:p>
            <a:pPr>
              <a:defRPr/>
            </a:pPr>
            <a:endParaRPr lang="ko-KR" altLang="en-US" b="1"/>
          </a:p>
          <a:p>
            <a:pPr>
              <a:defRPr/>
            </a:pPr>
            <a:r>
              <a:rPr lang="en-US" altLang="ko-KR" b="1"/>
              <a:t>8.</a:t>
            </a:r>
            <a:r>
              <a:rPr lang="ko-KR" altLang="en-US" b="1"/>
              <a:t> 중개인 없이 부동산 계약하는 어플  </a:t>
            </a:r>
            <a:r>
              <a:rPr lang="en-US" altLang="ko-KR" b="1"/>
              <a:t>-</a:t>
            </a:r>
            <a:r>
              <a:rPr lang="ko-KR" altLang="en-US" b="1"/>
              <a:t> 있긴 있음</a:t>
            </a:r>
            <a:endParaRPr lang="ko-KR" altLang="en-US" b="1"/>
          </a:p>
          <a:p>
            <a:pPr>
              <a:defRPr/>
            </a:pP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7273290" y="836676"/>
            <a:ext cx="704850" cy="228561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투표 </a:t>
            </a:r>
            <a:endParaRPr lang="ko-KR" altLang="en-US"/>
          </a:p>
          <a:p>
            <a:pPr>
              <a:defRPr/>
            </a:pPr>
            <a:r>
              <a:rPr lang="en-US" altLang="ko-KR"/>
              <a:t>8</a:t>
            </a:r>
            <a:r>
              <a:rPr lang="ko-KR" altLang="en-US"/>
              <a:t> 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5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8,</a:t>
            </a:r>
            <a:r>
              <a:rPr lang="ko-KR" altLang="en-US"/>
              <a:t>  </a:t>
            </a:r>
            <a:r>
              <a:rPr lang="en-US" altLang="ko-KR"/>
              <a:t>5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2,</a:t>
            </a:r>
            <a:r>
              <a:rPr lang="ko-KR" altLang="en-US"/>
              <a:t>  </a:t>
            </a:r>
            <a:r>
              <a:rPr lang="en-US" altLang="ko-KR"/>
              <a:t>8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8,</a:t>
            </a:r>
            <a:r>
              <a:rPr lang="ko-KR" altLang="en-US"/>
              <a:t>  </a:t>
            </a:r>
            <a:r>
              <a:rPr lang="en-US" altLang="ko-KR"/>
              <a:t>2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1418844" y="970976"/>
            <a:ext cx="6621399" cy="255136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 </a:t>
            </a:r>
            <a:r>
              <a:rPr lang="en-US" altLang="ko-KR"/>
              <a:t>&gt;</a:t>
            </a:r>
            <a:r>
              <a:rPr lang="ko-KR" altLang="en-US"/>
              <a:t> 다른 기존 제품과 차별화 시키기   ★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 </a:t>
            </a:r>
            <a:r>
              <a:rPr lang="en-US" altLang="ko-KR"/>
              <a:t>&gt;</a:t>
            </a:r>
            <a:r>
              <a:rPr lang="ko-KR" altLang="en-US"/>
              <a:t> 앱 </a:t>
            </a:r>
            <a:r>
              <a:rPr lang="en-US" altLang="ko-KR"/>
              <a:t>or</a:t>
            </a:r>
            <a:r>
              <a:rPr lang="ko-KR" altLang="en-US"/>
              <a:t> 웹에 추가 기능 들어갈만한 것 찾아보기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3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 </a:t>
            </a:r>
            <a:r>
              <a:rPr lang="en-US" altLang="ko-KR"/>
              <a:t>&gt;</a:t>
            </a:r>
            <a:r>
              <a:rPr lang="ko-KR" altLang="en-US"/>
              <a:t>  </a:t>
            </a:r>
            <a:r>
              <a:rPr lang="en-US" altLang="ko-KR"/>
              <a:t>8</a:t>
            </a:r>
            <a:r>
              <a:rPr lang="ko-KR" altLang="en-US"/>
              <a:t>번 아이디어에 대해서 보완할 점 생각하기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4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 </a:t>
            </a:r>
            <a:r>
              <a:rPr lang="en-US" altLang="ko-KR"/>
              <a:t>&gt;</a:t>
            </a:r>
            <a:r>
              <a:rPr lang="ko-KR" altLang="en-US"/>
              <a:t> 사업계획서에 들어갈 내용 고려하기</a:t>
            </a:r>
            <a:endParaRPr lang="ko-KR" altLang="en-US"/>
          </a:p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83824" y="1680440"/>
            <a:ext cx="4248743" cy="377242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8490" y="275306"/>
            <a:ext cx="4801270" cy="6582693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6383824" y="3212973"/>
            <a:ext cx="3240617" cy="1728216"/>
          </a:xfrm>
          <a:prstGeom prst="rect">
            <a:avLst/>
          </a:prstGeom>
          <a:noFill/>
          <a:ln w="5715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7" name=""/>
          <p:cNvCxnSpPr/>
          <p:nvPr/>
        </p:nvCxnSpPr>
        <p:spPr>
          <a:xfrm>
            <a:off x="8760334" y="3566653"/>
            <a:ext cx="223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"/>
          <p:cNvCxnSpPr/>
          <p:nvPr/>
        </p:nvCxnSpPr>
        <p:spPr>
          <a:xfrm>
            <a:off x="9012364" y="3933063"/>
            <a:ext cx="9001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>
            <a:off x="8256270" y="4509135"/>
            <a:ext cx="17282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 flipH="1">
            <a:off x="1703450" y="980694"/>
            <a:ext cx="7920990" cy="345643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87307" y="2708910"/>
            <a:ext cx="1365349" cy="1174438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823144" y="91249"/>
            <a:ext cx="4697546" cy="643147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1600"/>
              <a:t>허위매물 </a:t>
            </a:r>
            <a:r>
              <a:rPr lang="en-US" altLang="ko-KR" sz="1600"/>
              <a:t>-&gt;</a:t>
            </a:r>
            <a:r>
              <a:rPr lang="ko-KR" altLang="en-US" sz="1600"/>
              <a:t> 보상 지급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월세전세 후기작성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조건 </a:t>
            </a:r>
            <a:r>
              <a:rPr lang="en-US" altLang="ko-KR" sz="1600"/>
              <a:t>-&gt;</a:t>
            </a:r>
            <a:r>
              <a:rPr lang="ko-KR" altLang="en-US" sz="1600"/>
              <a:t> 맞춤서비스 제공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사용자 범위 맞춤 검색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처음 매물 제공 시 </a:t>
            </a:r>
            <a:r>
              <a:rPr lang="en-US" altLang="ko-KR" sz="1600"/>
              <a:t>30</a:t>
            </a:r>
            <a:r>
              <a:rPr lang="ko-KR" altLang="en-US" sz="1600"/>
              <a:t>초 동영상</a:t>
            </a:r>
            <a:r>
              <a:rPr lang="en-US" altLang="ko-KR" sz="1600"/>
              <a:t> (</a:t>
            </a:r>
            <a:r>
              <a:rPr lang="ko-KR" altLang="en-US" sz="1600"/>
              <a:t>사진만</a:t>
            </a:r>
            <a:r>
              <a:rPr lang="en-US" altLang="ko-KR" sz="1600"/>
              <a:t>x)</a:t>
            </a:r>
            <a:endParaRPr lang="en-US" altLang="ko-KR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구매자 요청시 판매자 정보 제공</a:t>
            </a:r>
            <a:r>
              <a:rPr lang="en-US" altLang="ko-KR" sz="1600"/>
              <a:t>(</a:t>
            </a:r>
            <a:r>
              <a:rPr lang="ko-KR" altLang="en-US" sz="1600"/>
              <a:t> </a:t>
            </a:r>
            <a:r>
              <a:rPr lang="en-US" altLang="ko-KR" sz="1600"/>
              <a:t>ex)</a:t>
            </a:r>
            <a:r>
              <a:rPr lang="ko-KR" altLang="en-US" sz="1600"/>
              <a:t>수압</a:t>
            </a:r>
            <a:r>
              <a:rPr lang="en-US" altLang="ko-KR" sz="1600"/>
              <a:t>) (</a:t>
            </a:r>
            <a:r>
              <a:rPr lang="ko-KR" altLang="en-US" sz="1600"/>
              <a:t>피드백</a:t>
            </a:r>
            <a:r>
              <a:rPr lang="en-US" altLang="ko-KR" sz="1600"/>
              <a:t>)</a:t>
            </a:r>
            <a:endParaRPr lang="en-US" altLang="ko-KR" sz="1600"/>
          </a:p>
          <a:p>
            <a:pPr>
              <a:defRPr/>
            </a:pPr>
            <a:endParaRPr lang="en-US" altLang="ko-KR" sz="1600"/>
          </a:p>
          <a:p>
            <a:pPr>
              <a:defRPr/>
            </a:pPr>
            <a:r>
              <a:rPr lang="ko-KR" altLang="en-US" sz="1600"/>
              <a:t>월세의 특정 사용자 맞춤 옵션 </a:t>
            </a:r>
            <a:r>
              <a:rPr lang="en-US" altLang="ko-KR" sz="1600"/>
              <a:t>ex) </a:t>
            </a:r>
            <a:r>
              <a:rPr lang="ko-KR" altLang="en-US" sz="1600"/>
              <a:t>쉐어하우스 타겟</a:t>
            </a:r>
            <a:r>
              <a:rPr lang="en-US" altLang="ko-KR" sz="1600"/>
              <a:t>;</a:t>
            </a:r>
            <a:endParaRPr lang="en-US" altLang="ko-KR" sz="1600"/>
          </a:p>
          <a:p>
            <a:pPr>
              <a:defRPr/>
            </a:pPr>
            <a:r>
              <a:rPr lang="ko-KR" altLang="en-US" sz="1600"/>
              <a:t>   </a:t>
            </a:r>
            <a:r>
              <a:rPr lang="en-US" altLang="ko-KR" sz="1600"/>
              <a:t>-&gt;</a:t>
            </a:r>
            <a:r>
              <a:rPr lang="ko-KR" altLang="en-US" sz="1600"/>
              <a:t> 쉐어 입주자 맞춤 </a:t>
            </a:r>
            <a:br>
              <a:rPr lang="ko-KR" altLang="en-US" sz="1600"/>
            </a:br>
            <a:endParaRPr lang="ko-KR" altLang="en-US" sz="1600"/>
          </a:p>
          <a:p>
            <a:pPr>
              <a:defRPr/>
            </a:pPr>
            <a:r>
              <a:rPr lang="ko-KR" altLang="en-US" sz="1600"/>
              <a:t>어플 내 판매자 구매자 대화 기능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부동산 세금 계산 기능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로그인시 연동 </a:t>
            </a:r>
            <a:r>
              <a:rPr lang="en-US" altLang="ko-KR" sz="1600"/>
              <a:t>ex(</a:t>
            </a:r>
            <a:r>
              <a:rPr lang="ko-KR" altLang="en-US" sz="1600"/>
              <a:t> 카카오 </a:t>
            </a:r>
            <a:r>
              <a:rPr lang="en-US" altLang="ko-KR" sz="1600"/>
              <a:t>,</a:t>
            </a:r>
            <a:r>
              <a:rPr lang="ko-KR" altLang="en-US" sz="1600"/>
              <a:t> 네이버</a:t>
            </a:r>
            <a:r>
              <a:rPr lang="en-US" altLang="ko-KR" sz="1600"/>
              <a:t>)</a:t>
            </a:r>
            <a:r>
              <a:rPr lang="ko-KR" altLang="en-US" sz="1600"/>
              <a:t> </a:t>
            </a:r>
            <a:r>
              <a:rPr lang="en-US" altLang="ko-KR" sz="1600"/>
              <a:t>//</a:t>
            </a:r>
            <a:r>
              <a:rPr lang="ko-KR" altLang="en-US" sz="1600"/>
              <a:t>  단계별 인증 </a:t>
            </a:r>
            <a:endParaRPr lang="ko-KR" altLang="en-US" sz="1600"/>
          </a:p>
          <a:p>
            <a:pPr>
              <a:defRPr/>
            </a:pPr>
            <a:endParaRPr lang="en-US" altLang="ko-KR" sz="1600"/>
          </a:p>
          <a:p>
            <a:pPr>
              <a:defRPr/>
            </a:pPr>
            <a:r>
              <a:rPr lang="ko-KR" altLang="en-US" sz="1600"/>
              <a:t>전입세대 열람 기능  </a:t>
            </a:r>
            <a:r>
              <a:rPr lang="en-US" altLang="ko-KR" sz="1600"/>
              <a:t>//</a:t>
            </a:r>
            <a:r>
              <a:rPr lang="ko-KR" altLang="en-US" sz="1600"/>
              <a:t> 가능할 지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신분증 자동확인 기능</a:t>
            </a:r>
            <a:r>
              <a:rPr lang="en-US" altLang="ko-KR" sz="1600"/>
              <a:t>,</a:t>
            </a:r>
            <a:r>
              <a:rPr lang="ko-KR" altLang="en-US" sz="1600"/>
              <a:t> 지문 인식 기능  </a:t>
            </a:r>
            <a:r>
              <a:rPr lang="en-US" altLang="ko-KR" sz="1600"/>
              <a:t>//</a:t>
            </a:r>
            <a:r>
              <a:rPr lang="ko-KR" altLang="en-US" sz="1600"/>
              <a:t> 가능할지 </a:t>
            </a:r>
            <a:endParaRPr lang="ko-KR" altLang="en-US" sz="1600"/>
          </a:p>
          <a:p>
            <a:pPr>
              <a:defRPr/>
            </a:pPr>
            <a:endParaRPr lang="ko-KR" altLang="en-US" sz="1600"/>
          </a:p>
          <a:p>
            <a:pPr>
              <a:defRPr/>
            </a:pPr>
            <a:r>
              <a:rPr lang="ko-KR" altLang="en-US" sz="1600"/>
              <a:t>본인 인증  </a:t>
            </a:r>
            <a:r>
              <a:rPr lang="en-US" altLang="ko-KR" sz="1600"/>
              <a:t>-</a:t>
            </a:r>
            <a:r>
              <a:rPr lang="ko-KR" altLang="en-US" sz="1600"/>
              <a:t> </a:t>
            </a:r>
            <a:r>
              <a:rPr lang="en-US" altLang="ko-KR" sz="1600"/>
              <a:t>ex) </a:t>
            </a:r>
            <a:r>
              <a:rPr lang="ko-KR" altLang="en-US" sz="1600"/>
              <a:t>카카오페이</a:t>
            </a:r>
            <a:r>
              <a:rPr lang="en-US" altLang="ko-KR" sz="1600"/>
              <a:t> </a:t>
            </a:r>
            <a:r>
              <a:rPr lang="ko-KR" altLang="en-US" sz="1600"/>
              <a:t>계좌 </a:t>
            </a:r>
            <a:r>
              <a:rPr lang="en-US" altLang="ko-KR" sz="1600"/>
              <a:t>1</a:t>
            </a:r>
            <a:r>
              <a:rPr lang="ko-KR" altLang="en-US" sz="1600"/>
              <a:t>원 송금</a:t>
            </a:r>
            <a:endParaRPr lang="ko-KR" altLang="en-US" sz="1600"/>
          </a:p>
        </p:txBody>
      </p:sp>
      <p:sp>
        <p:nvSpPr>
          <p:cNvPr id="10" name=""/>
          <p:cNvSpPr txBox="1"/>
          <p:nvPr/>
        </p:nvSpPr>
        <p:spPr>
          <a:xfrm>
            <a:off x="7104119" y="980693"/>
            <a:ext cx="4388746" cy="200825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거래 신뢰성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본인 인증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ex) </a:t>
            </a:r>
            <a:r>
              <a:rPr lang="ko-KR" altLang="en-US"/>
              <a:t>카카오페이</a:t>
            </a:r>
            <a:r>
              <a:rPr lang="en-US" altLang="ko-KR"/>
              <a:t> </a:t>
            </a:r>
            <a:r>
              <a:rPr lang="ko-KR" altLang="en-US"/>
              <a:t>계좌 </a:t>
            </a:r>
            <a:r>
              <a:rPr lang="en-US" altLang="ko-KR"/>
              <a:t>1</a:t>
            </a:r>
            <a:r>
              <a:rPr lang="ko-KR" altLang="en-US"/>
              <a:t>원 송금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1847469" y="3960495"/>
            <a:ext cx="6408801" cy="141274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 defTabSz="232257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사업계획서 간단하게 작성해보기</a:t>
            </a:r>
            <a:endParaRPr xmlns:mc="http://schemas.openxmlformats.org/markup-compatibility/2006" xmlns:hp="http://schemas.haansoft.com/office/presentation/8.0" kumimoji="0" lang="ko-KR" altLang="en-US" sz="33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8256270" y="980694"/>
            <a:ext cx="255270" cy="36042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3107626" y="982313"/>
            <a:ext cx="3888486" cy="1412748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 defTabSz="232257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기능 보완 및 수정</a:t>
            </a:r>
            <a:endParaRPr xmlns:mc="http://schemas.openxmlformats.org/markup-compatibility/2006" xmlns:hp="http://schemas.haansoft.com/office/presentation/8.0" kumimoji="0" lang="ko-KR" altLang="en-US" sz="33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cxnSp>
        <p:nvCxnSpPr>
          <p:cNvPr id="12" name=""/>
          <p:cNvCxnSpPr>
            <a:stCxn id="11" idx="2"/>
            <a:endCxn id="6" idx="0"/>
          </p:cNvCxnSpPr>
          <p:nvPr/>
        </p:nvCxnSpPr>
        <p:spPr>
          <a:xfrm rot="16200000" flipH="1">
            <a:off x="4269152" y="3177778"/>
            <a:ext cx="156543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"/>
          <p:cNvSpPr txBox="1"/>
          <p:nvPr/>
        </p:nvSpPr>
        <p:spPr>
          <a:xfrm>
            <a:off x="7294234" y="1341120"/>
            <a:ext cx="3198506" cy="90487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현실성 </a:t>
            </a:r>
            <a:r>
              <a:rPr lang="en-US" altLang="ko-KR"/>
              <a:t>:</a:t>
            </a:r>
            <a:r>
              <a:rPr lang="ko-KR" altLang="en-US"/>
              <a:t> 현실적으로 가능한 지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필요성 </a:t>
            </a:r>
            <a:r>
              <a:rPr lang="en-US" altLang="ko-KR"/>
              <a:t>:</a:t>
            </a:r>
            <a:r>
              <a:rPr lang="ko-KR" altLang="en-US"/>
              <a:t> 필요한건지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405</ep:Words>
  <ep:PresentationFormat>화면 슬라이드 쇼(4:3)</ep:PresentationFormat>
  <ep:Paragraphs>81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2021-03-05T13:15:41.768</dcterms:created>
  <dc:creator>이상민</dc:creator>
  <cp:lastModifiedBy>이상민</cp:lastModifiedBy>
  <dcterms:modified xsi:type="dcterms:W3CDTF">2021-03-23T07:47:53.027</dcterms:modified>
  <cp:revision>53</cp:revision>
  <cp:version>1000.0000.01</cp:version>
</cp:coreProperties>
</file>